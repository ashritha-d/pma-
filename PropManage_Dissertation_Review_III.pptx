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5" r:id="rId27"/>
    <p:sldId id="276" r:id="rId28"/>
    <p:sldId id="269" r:id="rId20"/>
    <p:sldId id="270" r:id="rId21"/>
    <p:sldId id="271" r:id="rId22"/>
    <p:sldId id="272" r:id="rId23"/>
    <p:sldId id="273" r:id="rId24"/>
    <p:sldId id="277" r:id="rId29"/>
    <p:sldId id="274" r:id="rId25"/>
    <p:sldId id="278" r:id="rId30"/>
  </p:sldIdLst>
  <p:sldSz cy="3244850" cx="5765800"/>
  <p:notesSz cx="5765800" cy="32448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igKYwkWtpa+tUZBpjC+eo46yTq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B9942AF-D573-48A4-88CD-0C3B0F94A23A}">
  <a:tblStyle styleId="{7B9942AF-D573-48A4-88CD-0C3B0F94A23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customschemas.google.com/relationships/presentationmetadata" Target="metadata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800">
                <a:latin typeface="Georgia"/>
              </a:rPr>
              <a:t>Endpoint Latency (ms)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latency (ms)</c:v>
                </c:pt>
              </c:strCache>
            </c:strRef>
          </c:tx>
          <c:spPr>
            <a:solidFill>
              <a:srgbClr val="3333B2"/>
            </a:solidFill>
          </c:spPr>
          <c:cat>
            <c:strRef>
              <c:f>Sheet1!$A$2:$A$7</c:f>
              <c:strCache>
                <c:ptCount val="6"/>
                <c:pt idx="0">
                  <c:v>Login</c:v>
                </c:pt>
                <c:pt idx="1">
                  <c:v>Properties</c:v>
                </c:pt>
                <c:pt idx="2">
                  <c:v>Bookings</c:v>
                </c:pt>
                <c:pt idx="3">
                  <c:v>Payments</c:v>
                </c:pt>
                <c:pt idx="4">
                  <c:v>Dashboard</c:v>
                </c:pt>
                <c:pt idx="5">
                  <c:v>AI Chat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312</c:v>
                </c:pt>
                <c:pt idx="1">
                  <c:v>241</c:v>
                </c:pt>
                <c:pt idx="2">
                  <c:v>288</c:v>
                </c:pt>
                <c:pt idx="3">
                  <c:v>847</c:v>
                </c:pt>
                <c:pt idx="4">
                  <c:v>574</c:v>
                </c:pt>
                <c:pt idx="5">
                  <c:v>2080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6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6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6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2362af273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2362af273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2362af273_0_4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2362af273_0_4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2362af273_0_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2362af273_0_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2362af273_0_1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2362af273_0_1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2362af273_0_1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f2362af273_0_1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2362af273_0_2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2362af273_0_2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2362af273_0_24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f2362af273_0_24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2362af273_0_2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2362af273_0_2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2362af273_0_4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f2362af273_0_4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2362af273_0_4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f2362af273_0_4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2362af273_0_5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f2362af273_0_5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p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5300" y="62405"/>
            <a:ext cx="1850389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1371739" y="1098497"/>
            <a:ext cx="3016885" cy="1123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1" type="ftr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0" type="dt"/>
          </p:nvPr>
        </p:nvSpPr>
        <p:spPr>
          <a:xfrm>
            <a:off x="4315459" y="3109203"/>
            <a:ext cx="79882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95300" y="62405"/>
            <a:ext cx="1850389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1" type="ftr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0" type="dt"/>
          </p:nvPr>
        </p:nvSpPr>
        <p:spPr>
          <a:xfrm>
            <a:off x="4315459" y="3109203"/>
            <a:ext cx="79882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2" type="sldNum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/>
          <p:nvPr>
            <p:ph idx="11" type="ftr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0" type="dt"/>
          </p:nvPr>
        </p:nvSpPr>
        <p:spPr>
          <a:xfrm>
            <a:off x="4315459" y="3109203"/>
            <a:ext cx="79882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12" type="sldNum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4"/>
          <p:cNvSpPr txBox="1"/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" type="subTitle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315459" y="3109203"/>
            <a:ext cx="79882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2" type="sldNum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/>
          <p:nvPr>
            <p:ph type="title"/>
          </p:nvPr>
        </p:nvSpPr>
        <p:spPr>
          <a:xfrm>
            <a:off x="95300" y="62405"/>
            <a:ext cx="1850389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" type="body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2" type="body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0" type="dt"/>
          </p:nvPr>
        </p:nvSpPr>
        <p:spPr>
          <a:xfrm>
            <a:off x="4315459" y="3109203"/>
            <a:ext cx="79882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2" type="sldNum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/>
          <p:nvPr/>
        </p:nvSpPr>
        <p:spPr>
          <a:xfrm>
            <a:off x="4191217" y="3049002"/>
            <a:ext cx="43180" cy="30480"/>
          </a:xfrm>
          <a:custGeom>
            <a:rect b="b" l="l" r="r" t="t"/>
            <a:pathLst>
              <a:path extrusionOk="0" h="30480" w="431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0"/>
          <p:cNvSpPr/>
          <p:nvPr/>
        </p:nvSpPr>
        <p:spPr>
          <a:xfrm>
            <a:off x="4111599" y="3045040"/>
            <a:ext cx="25400" cy="38100"/>
          </a:xfrm>
          <a:custGeom>
            <a:rect b="b" l="l" r="r" t="t"/>
            <a:pathLst>
              <a:path extrusionOk="0" h="38100" w="254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0"/>
          <p:cNvSpPr/>
          <p:nvPr/>
        </p:nvSpPr>
        <p:spPr>
          <a:xfrm>
            <a:off x="4289402" y="3045040"/>
            <a:ext cx="25400" cy="38100"/>
          </a:xfrm>
          <a:custGeom>
            <a:rect b="b" l="l" r="r" t="t"/>
            <a:pathLst>
              <a:path extrusionOk="0" h="38100" w="254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0"/>
          <p:cNvSpPr/>
          <p:nvPr/>
        </p:nvSpPr>
        <p:spPr>
          <a:xfrm>
            <a:off x="4451717" y="3038690"/>
            <a:ext cx="64135" cy="50800"/>
          </a:xfrm>
          <a:custGeom>
            <a:rect b="b" l="l" r="r" t="t"/>
            <a:pathLst>
              <a:path extrusionOk="0" h="50800" w="64135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extrusionOk="0" h="50800" w="64135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extrusionOk="0" h="50800" w="64135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0"/>
          <p:cNvSpPr/>
          <p:nvPr/>
        </p:nvSpPr>
        <p:spPr>
          <a:xfrm>
            <a:off x="4388548" y="3045040"/>
            <a:ext cx="203200" cy="38100"/>
          </a:xfrm>
          <a:custGeom>
            <a:rect b="b" l="l" r="r" t="t"/>
            <a:pathLst>
              <a:path extrusionOk="0" h="38100" w="2032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extrusionOk="0" h="38100" w="2032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0"/>
          <p:cNvSpPr/>
          <p:nvPr/>
        </p:nvSpPr>
        <p:spPr>
          <a:xfrm>
            <a:off x="4754398" y="3051390"/>
            <a:ext cx="38100" cy="0"/>
          </a:xfrm>
          <a:custGeom>
            <a:rect b="b" l="l" r="r" t="t"/>
            <a:pathLst>
              <a:path extrusionOk="0" h="120000"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0"/>
          <p:cNvSpPr/>
          <p:nvPr/>
        </p:nvSpPr>
        <p:spPr>
          <a:xfrm>
            <a:off x="4665497" y="3045040"/>
            <a:ext cx="203200" cy="38100"/>
          </a:xfrm>
          <a:custGeom>
            <a:rect b="b" l="l" r="r" t="t"/>
            <a:pathLst>
              <a:path extrusionOk="0" h="38100" w="2032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extrusionOk="0" h="38100" w="2032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0"/>
          <p:cNvSpPr/>
          <p:nvPr/>
        </p:nvSpPr>
        <p:spPr>
          <a:xfrm>
            <a:off x="4741698" y="3038690"/>
            <a:ext cx="50800" cy="50800"/>
          </a:xfrm>
          <a:custGeom>
            <a:rect b="b" l="l" r="r" t="t"/>
            <a:pathLst>
              <a:path extrusionOk="0" h="50800" w="50800">
                <a:moveTo>
                  <a:pt x="0" y="0"/>
                </a:moveTo>
                <a:lnTo>
                  <a:pt x="38100" y="0"/>
                </a:lnTo>
              </a:path>
              <a:path extrusionOk="0" h="50800" w="50800">
                <a:moveTo>
                  <a:pt x="12700" y="25400"/>
                </a:moveTo>
                <a:lnTo>
                  <a:pt x="50800" y="25400"/>
                </a:lnTo>
              </a:path>
              <a:path extrusionOk="0" h="50800" w="50800">
                <a:moveTo>
                  <a:pt x="0" y="38100"/>
                </a:moveTo>
                <a:lnTo>
                  <a:pt x="38100" y="38100"/>
                </a:lnTo>
              </a:path>
              <a:path extrusionOk="0" h="50800" w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cap="flat" cmpd="sng" w="9525">
            <a:solidFill>
              <a:srgbClr val="D6D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0"/>
          <p:cNvSpPr/>
          <p:nvPr/>
        </p:nvSpPr>
        <p:spPr>
          <a:xfrm>
            <a:off x="5018647" y="3038690"/>
            <a:ext cx="50800" cy="25400"/>
          </a:xfrm>
          <a:custGeom>
            <a:rect b="b" l="l" r="r" t="t"/>
            <a:pathLst>
              <a:path extrusionOk="0" h="25400" w="50800">
                <a:moveTo>
                  <a:pt x="0" y="0"/>
                </a:moveTo>
                <a:lnTo>
                  <a:pt x="38100" y="0"/>
                </a:lnTo>
              </a:path>
              <a:path extrusionOk="0" h="25400" w="50800">
                <a:moveTo>
                  <a:pt x="12700" y="12700"/>
                </a:moveTo>
                <a:lnTo>
                  <a:pt x="50800" y="12700"/>
                </a:lnTo>
              </a:path>
              <a:path extrusionOk="0" h="25400" w="508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0"/>
          <p:cNvSpPr/>
          <p:nvPr/>
        </p:nvSpPr>
        <p:spPr>
          <a:xfrm>
            <a:off x="4942446" y="3045040"/>
            <a:ext cx="203200" cy="38100"/>
          </a:xfrm>
          <a:custGeom>
            <a:rect b="b" l="l" r="r" t="t"/>
            <a:pathLst>
              <a:path extrusionOk="0" h="38100" w="2032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extrusionOk="0" h="38100" w="2032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0"/>
          <p:cNvSpPr/>
          <p:nvPr/>
        </p:nvSpPr>
        <p:spPr>
          <a:xfrm>
            <a:off x="5018647" y="3076790"/>
            <a:ext cx="50800" cy="12700"/>
          </a:xfrm>
          <a:custGeom>
            <a:rect b="b" l="l" r="r" t="t"/>
            <a:pathLst>
              <a:path extrusionOk="0" h="12700" w="50800">
                <a:moveTo>
                  <a:pt x="0" y="0"/>
                </a:moveTo>
                <a:lnTo>
                  <a:pt x="38100" y="0"/>
                </a:lnTo>
              </a:path>
              <a:path extrusionOk="0" h="12700" w="508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noFill/>
          <a:ln cap="flat" cmpd="sng" w="9525">
            <a:solidFill>
              <a:srgbClr val="D6D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0"/>
          <p:cNvSpPr/>
          <p:nvPr/>
        </p:nvSpPr>
        <p:spPr>
          <a:xfrm>
            <a:off x="5295596" y="3038690"/>
            <a:ext cx="50800" cy="50800"/>
          </a:xfrm>
          <a:custGeom>
            <a:rect b="b" l="l" r="r" t="t"/>
            <a:pathLst>
              <a:path extrusionOk="0" h="50800" w="50800">
                <a:moveTo>
                  <a:pt x="0" y="0"/>
                </a:moveTo>
                <a:lnTo>
                  <a:pt x="38100" y="0"/>
                </a:lnTo>
              </a:path>
              <a:path extrusionOk="0" h="50800" w="50800">
                <a:moveTo>
                  <a:pt x="12700" y="12700"/>
                </a:moveTo>
                <a:lnTo>
                  <a:pt x="50800" y="12700"/>
                </a:lnTo>
              </a:path>
              <a:path extrusionOk="0" h="50800" w="50800">
                <a:moveTo>
                  <a:pt x="12700" y="25400"/>
                </a:moveTo>
                <a:lnTo>
                  <a:pt x="50800" y="25400"/>
                </a:lnTo>
              </a:path>
              <a:path extrusionOk="0" h="50800" w="50800">
                <a:moveTo>
                  <a:pt x="0" y="38100"/>
                </a:moveTo>
                <a:lnTo>
                  <a:pt x="38100" y="38100"/>
                </a:lnTo>
              </a:path>
              <a:path extrusionOk="0" h="50800" w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0"/>
          <p:cNvSpPr/>
          <p:nvPr/>
        </p:nvSpPr>
        <p:spPr>
          <a:xfrm>
            <a:off x="5603025" y="3069170"/>
            <a:ext cx="20320" cy="20320"/>
          </a:xfrm>
          <a:custGeom>
            <a:rect b="b" l="l" r="r" t="t"/>
            <a:pathLst>
              <a:path extrusionOk="0" h="20319" w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0"/>
          <p:cNvSpPr/>
          <p:nvPr/>
        </p:nvSpPr>
        <p:spPr>
          <a:xfrm>
            <a:off x="5575961" y="3042675"/>
            <a:ext cx="30480" cy="30480"/>
          </a:xfrm>
          <a:custGeom>
            <a:rect b="b" l="l" r="r" t="t"/>
            <a:pathLst>
              <a:path extrusionOk="0" h="30480" w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0"/>
          <p:cNvSpPr/>
          <p:nvPr/>
        </p:nvSpPr>
        <p:spPr>
          <a:xfrm>
            <a:off x="5481104" y="3038690"/>
            <a:ext cx="233679" cy="50800"/>
          </a:xfrm>
          <a:custGeom>
            <a:rect b="b" l="l" r="r" t="t"/>
            <a:pathLst>
              <a:path extrusionOk="0" h="50800" w="233679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extrusionOk="0" h="50800" w="233679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extrusionOk="0" h="50800" w="233679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extrusionOk="0" h="50800" w="233679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0"/>
          <p:cNvSpPr/>
          <p:nvPr/>
        </p:nvSpPr>
        <p:spPr>
          <a:xfrm>
            <a:off x="0" y="0"/>
            <a:ext cx="5760085" cy="355600"/>
          </a:xfrm>
          <a:custGeom>
            <a:rect b="b" l="l" r="r" t="t"/>
            <a:pathLst>
              <a:path extrusionOk="0" h="355600" w="5760085">
                <a:moveTo>
                  <a:pt x="5759996" y="0"/>
                </a:moveTo>
                <a:lnTo>
                  <a:pt x="0" y="0"/>
                </a:lnTo>
                <a:lnTo>
                  <a:pt x="0" y="355180"/>
                </a:lnTo>
                <a:lnTo>
                  <a:pt x="5759996" y="355180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0"/>
          <p:cNvSpPr txBox="1"/>
          <p:nvPr>
            <p:ph type="title"/>
          </p:nvPr>
        </p:nvSpPr>
        <p:spPr>
          <a:xfrm>
            <a:off x="95300" y="62405"/>
            <a:ext cx="1850389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1371739" y="1098497"/>
            <a:ext cx="3016885" cy="1123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10"/>
          <p:cNvSpPr txBox="1"/>
          <p:nvPr>
            <p:ph idx="11" type="ftr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0"/>
          <p:cNvSpPr txBox="1"/>
          <p:nvPr>
            <p:ph idx="10" type="dt"/>
          </p:nvPr>
        </p:nvSpPr>
        <p:spPr>
          <a:xfrm>
            <a:off x="4315459" y="3109203"/>
            <a:ext cx="79882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slide" Target="slide3.xml"/><Relationship Id="rId8" Type="http://schemas.openxmlformats.org/officeDocument/2006/relationships/slide" Target="slide4.xml"/><Relationship Id="rId9" Type="http://schemas.openxmlformats.org/officeDocument/2006/relationships/slide" Target="slide8.xml"/><Relationship Id="rId10" Type="http://schemas.openxmlformats.org/officeDocument/2006/relationships/image" Target="../media/image7.png"/><Relationship Id="rId11" Type="http://schemas.openxmlformats.org/officeDocument/2006/relationships/image" Target="../media/image6.png"/><Relationship Id="rId12" Type="http://schemas.openxmlformats.org/officeDocument/2006/relationships/image" Target="../media/image1.png"/><Relationship Id="rId13" Type="http://schemas.openxmlformats.org/officeDocument/2006/relationships/slide" Target="slide14.xml"/><Relationship Id="rId14" Type="http://schemas.openxmlformats.org/officeDocument/2006/relationships/slide" Target="slide19.xml"/><Relationship Id="rId15" Type="http://schemas.openxmlformats.org/officeDocument/2006/relationships/slide" Target="slide19.xml"/><Relationship Id="rId16" Type="http://schemas.openxmlformats.org/officeDocument/2006/relationships/slide" Target="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slide" Target="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slide" Target="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slide" Target="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slide" Target="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slide" Target="slide1.xml"/><Relationship Id="rId5" Type="http://schemas.openxmlformats.org/officeDocument/2006/relationships/chart" Target="../charts/char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slide" Target="slide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.xml"/><Relationship Id="rId3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1"/>
          <p:cNvGrpSpPr/>
          <p:nvPr/>
        </p:nvGrpSpPr>
        <p:grpSpPr>
          <a:xfrm>
            <a:off x="86855" y="573858"/>
            <a:ext cx="5637531" cy="492523"/>
            <a:chOff x="86854" y="444334"/>
            <a:chExt cx="5637531" cy="492523"/>
          </a:xfrm>
        </p:grpSpPr>
        <p:sp>
          <p:nvSpPr>
            <p:cNvPr id="60" name="Google Shape;60;p1"/>
            <p:cNvSpPr/>
            <p:nvPr/>
          </p:nvSpPr>
          <p:spPr>
            <a:xfrm>
              <a:off x="86854" y="444334"/>
              <a:ext cx="5586730" cy="82550"/>
            </a:xfrm>
            <a:custGeom>
              <a:rect b="b" l="l" r="r" t="t"/>
              <a:pathLst>
                <a:path extrusionOk="0" h="82550" w="5586730">
                  <a:moveTo>
                    <a:pt x="5535550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586351" y="82384"/>
                  </a:lnTo>
                  <a:lnTo>
                    <a:pt x="5586351" y="50800"/>
                  </a:lnTo>
                  <a:lnTo>
                    <a:pt x="5582343" y="31075"/>
                  </a:lnTo>
                  <a:lnTo>
                    <a:pt x="5571428" y="14922"/>
                  </a:lnTo>
                  <a:lnTo>
                    <a:pt x="5555275" y="4008"/>
                  </a:lnTo>
                  <a:lnTo>
                    <a:pt x="553555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137655" y="507598"/>
              <a:ext cx="5586730" cy="429259"/>
            </a:xfrm>
            <a:custGeom>
              <a:rect b="b" l="l" r="r" t="t"/>
              <a:pathLst>
                <a:path extrusionOk="0" h="429259" w="5586730">
                  <a:moveTo>
                    <a:pt x="5586351" y="0"/>
                  </a:moveTo>
                  <a:lnTo>
                    <a:pt x="0" y="0"/>
                  </a:lnTo>
                  <a:lnTo>
                    <a:pt x="0" y="428710"/>
                  </a:lnTo>
                  <a:lnTo>
                    <a:pt x="5586351" y="428710"/>
                  </a:lnTo>
                  <a:lnTo>
                    <a:pt x="55863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86854" y="488761"/>
              <a:ext cx="5586730" cy="396875"/>
            </a:xfrm>
            <a:custGeom>
              <a:rect b="b" l="l" r="r" t="t"/>
              <a:pathLst>
                <a:path extrusionOk="0" h="396875" w="5586730">
                  <a:moveTo>
                    <a:pt x="5586351" y="0"/>
                  </a:moveTo>
                  <a:lnTo>
                    <a:pt x="0" y="0"/>
                  </a:lnTo>
                  <a:lnTo>
                    <a:pt x="0" y="345945"/>
                  </a:lnTo>
                  <a:lnTo>
                    <a:pt x="4008" y="365670"/>
                  </a:lnTo>
                  <a:lnTo>
                    <a:pt x="14922" y="381823"/>
                  </a:lnTo>
                  <a:lnTo>
                    <a:pt x="31075" y="392737"/>
                  </a:lnTo>
                  <a:lnTo>
                    <a:pt x="50800" y="396746"/>
                  </a:lnTo>
                  <a:lnTo>
                    <a:pt x="5535550" y="396746"/>
                  </a:lnTo>
                  <a:lnTo>
                    <a:pt x="5555275" y="392737"/>
                  </a:lnTo>
                  <a:lnTo>
                    <a:pt x="5571428" y="381823"/>
                  </a:lnTo>
                  <a:lnTo>
                    <a:pt x="5582343" y="365670"/>
                  </a:lnTo>
                  <a:lnTo>
                    <a:pt x="5586351" y="345945"/>
                  </a:lnTo>
                  <a:lnTo>
                    <a:pt x="5586351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" name="Google Shape;63;p1"/>
          <p:cNvSpPr txBox="1"/>
          <p:nvPr>
            <p:ph type="title"/>
          </p:nvPr>
        </p:nvSpPr>
        <p:spPr>
          <a:xfrm>
            <a:off x="137655" y="507598"/>
            <a:ext cx="5586730" cy="269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Property Management Application using Power BI</a:t>
            </a:r>
            <a:endParaRPr/>
          </a:p>
        </p:txBody>
      </p:sp>
      <p:sp>
        <p:nvSpPr>
          <p:cNvPr id="64" name="Google Shape;64;p1"/>
          <p:cNvSpPr txBox="1"/>
          <p:nvPr/>
        </p:nvSpPr>
        <p:spPr>
          <a:xfrm>
            <a:off x="2307925" y="2765488"/>
            <a:ext cx="1180465" cy="180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Date</a:t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4090493" y="3180536"/>
            <a:ext cx="43180" cy="30480"/>
          </a:xfrm>
          <a:custGeom>
            <a:rect b="b" l="l" r="r" t="t"/>
            <a:pathLst>
              <a:path extrusionOk="0" h="30480" w="431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4010876" y="3176574"/>
            <a:ext cx="25400" cy="38100"/>
          </a:xfrm>
          <a:custGeom>
            <a:rect b="b" l="l" r="r" t="t"/>
            <a:pathLst>
              <a:path extrusionOk="0" h="38100" w="254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4188678" y="3176574"/>
            <a:ext cx="25400" cy="38100"/>
          </a:xfrm>
          <a:custGeom>
            <a:rect b="b" l="l" r="r" t="t"/>
            <a:pathLst>
              <a:path extrusionOk="0" h="38100" w="254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Google Shape;68;p1"/>
          <p:cNvGrpSpPr/>
          <p:nvPr/>
        </p:nvGrpSpPr>
        <p:grpSpPr>
          <a:xfrm>
            <a:off x="4310113" y="3170224"/>
            <a:ext cx="203200" cy="50800"/>
            <a:chOff x="4310113" y="3170224"/>
            <a:chExt cx="203200" cy="50800"/>
          </a:xfrm>
        </p:grpSpPr>
        <p:sp>
          <p:nvSpPr>
            <p:cNvPr id="69" name="Google Shape;69;p1"/>
            <p:cNvSpPr/>
            <p:nvPr/>
          </p:nvSpPr>
          <p:spPr>
            <a:xfrm>
              <a:off x="4373282" y="3170224"/>
              <a:ext cx="64135" cy="50800"/>
            </a:xfrm>
            <a:custGeom>
              <a:rect b="b" l="l" r="r" t="t"/>
              <a:pathLst>
                <a:path extrusionOk="0" h="50800" w="64135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extrusionOk="0" h="50800" w="64135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extrusionOk="0" h="50800" w="64135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noFill/>
            <a:ln cap="flat" cmpd="sng" w="9525">
              <a:solidFill>
                <a:srgbClr val="ADA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4310113" y="3176574"/>
              <a:ext cx="203200" cy="38100"/>
            </a:xfrm>
            <a:custGeom>
              <a:rect b="b" l="l" r="r" t="t"/>
              <a:pathLst>
                <a:path extrusionOk="0" h="38100" w="2032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extrusionOk="0" h="38100" w="2032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" name="Google Shape;71;p1"/>
          <p:cNvGrpSpPr/>
          <p:nvPr/>
        </p:nvGrpSpPr>
        <p:grpSpPr>
          <a:xfrm>
            <a:off x="4609350" y="3170224"/>
            <a:ext cx="203200" cy="50800"/>
            <a:chOff x="4609350" y="3170224"/>
            <a:chExt cx="203200" cy="50800"/>
          </a:xfrm>
        </p:grpSpPr>
        <p:sp>
          <p:nvSpPr>
            <p:cNvPr id="72" name="Google Shape;72;p1"/>
            <p:cNvSpPr/>
            <p:nvPr/>
          </p:nvSpPr>
          <p:spPr>
            <a:xfrm>
              <a:off x="4698251" y="3182924"/>
              <a:ext cx="38100" cy="0"/>
            </a:xfrm>
            <a:custGeom>
              <a:rect b="b" l="l" r="r" t="t"/>
              <a:pathLst>
                <a:path extrusionOk="0" h="120000"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cap="flat" cmpd="sng" w="9525">
              <a:solidFill>
                <a:srgbClr val="ADA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4609350" y="3176574"/>
              <a:ext cx="203200" cy="38100"/>
            </a:xfrm>
            <a:custGeom>
              <a:rect b="b" l="l" r="r" t="t"/>
              <a:pathLst>
                <a:path extrusionOk="0" h="38100" w="2032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extrusionOk="0" h="38100" w="2032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4685551" y="3170224"/>
              <a:ext cx="50800" cy="50800"/>
            </a:xfrm>
            <a:custGeom>
              <a:rect b="b" l="l" r="r" t="t"/>
              <a:pathLst>
                <a:path extrusionOk="0" h="50800" w="50800">
                  <a:moveTo>
                    <a:pt x="0" y="0"/>
                  </a:moveTo>
                  <a:lnTo>
                    <a:pt x="38100" y="0"/>
                  </a:lnTo>
                </a:path>
                <a:path extrusionOk="0" h="50800" w="50800">
                  <a:moveTo>
                    <a:pt x="12700" y="25400"/>
                  </a:moveTo>
                  <a:lnTo>
                    <a:pt x="50800" y="25400"/>
                  </a:lnTo>
                </a:path>
                <a:path extrusionOk="0" h="50800" w="50800">
                  <a:moveTo>
                    <a:pt x="0" y="38100"/>
                  </a:moveTo>
                  <a:lnTo>
                    <a:pt x="38100" y="38100"/>
                  </a:lnTo>
                </a:path>
                <a:path extrusionOk="0" h="50800" w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noFill/>
            <a:ln cap="flat" cmpd="sng" w="9525">
              <a:solidFill>
                <a:srgbClr val="D6D6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" name="Google Shape;75;p1"/>
          <p:cNvGrpSpPr/>
          <p:nvPr/>
        </p:nvGrpSpPr>
        <p:grpSpPr>
          <a:xfrm>
            <a:off x="4908575" y="3170224"/>
            <a:ext cx="203200" cy="50800"/>
            <a:chOff x="4908575" y="3170224"/>
            <a:chExt cx="203200" cy="50800"/>
          </a:xfrm>
        </p:grpSpPr>
        <p:sp>
          <p:nvSpPr>
            <p:cNvPr id="76" name="Google Shape;76;p1"/>
            <p:cNvSpPr/>
            <p:nvPr/>
          </p:nvSpPr>
          <p:spPr>
            <a:xfrm>
              <a:off x="4984776" y="3170224"/>
              <a:ext cx="50800" cy="25400"/>
            </a:xfrm>
            <a:custGeom>
              <a:rect b="b" l="l" r="r" t="t"/>
              <a:pathLst>
                <a:path extrusionOk="0" h="25400" w="50800">
                  <a:moveTo>
                    <a:pt x="0" y="0"/>
                  </a:moveTo>
                  <a:lnTo>
                    <a:pt x="38100" y="0"/>
                  </a:lnTo>
                </a:path>
                <a:path extrusionOk="0" h="25400" w="50800">
                  <a:moveTo>
                    <a:pt x="12700" y="12700"/>
                  </a:moveTo>
                  <a:lnTo>
                    <a:pt x="50800" y="12700"/>
                  </a:lnTo>
                </a:path>
                <a:path extrusionOk="0" h="25400" w="508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noFill/>
            <a:ln cap="flat" cmpd="sng" w="9525">
              <a:solidFill>
                <a:srgbClr val="ADA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4908575" y="3176574"/>
              <a:ext cx="203200" cy="38100"/>
            </a:xfrm>
            <a:custGeom>
              <a:rect b="b" l="l" r="r" t="t"/>
              <a:pathLst>
                <a:path extrusionOk="0" h="38100" w="2032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extrusionOk="0" h="38100" w="2032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4984776" y="3208324"/>
              <a:ext cx="50800" cy="12700"/>
            </a:xfrm>
            <a:custGeom>
              <a:rect b="b" l="l" r="r" t="t"/>
              <a:pathLst>
                <a:path extrusionOk="0" h="12700" w="50800">
                  <a:moveTo>
                    <a:pt x="0" y="0"/>
                  </a:moveTo>
                  <a:lnTo>
                    <a:pt x="38100" y="0"/>
                  </a:lnTo>
                </a:path>
                <a:path extrusionOk="0" h="12700" w="508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noFill/>
            <a:ln cap="flat" cmpd="sng" w="9525">
              <a:solidFill>
                <a:srgbClr val="D6D6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1"/>
          <p:cNvSpPr/>
          <p:nvPr/>
        </p:nvSpPr>
        <p:spPr>
          <a:xfrm>
            <a:off x="5284013" y="3170224"/>
            <a:ext cx="50800" cy="50800"/>
          </a:xfrm>
          <a:custGeom>
            <a:rect b="b" l="l" r="r" t="t"/>
            <a:pathLst>
              <a:path extrusionOk="0" h="50800" w="50800">
                <a:moveTo>
                  <a:pt x="0" y="0"/>
                </a:moveTo>
                <a:lnTo>
                  <a:pt x="38100" y="0"/>
                </a:lnTo>
              </a:path>
              <a:path extrusionOk="0" h="50800" w="50800">
                <a:moveTo>
                  <a:pt x="12700" y="12700"/>
                </a:moveTo>
                <a:lnTo>
                  <a:pt x="50800" y="12700"/>
                </a:lnTo>
              </a:path>
              <a:path extrusionOk="0" h="50800" w="50800">
                <a:moveTo>
                  <a:pt x="12700" y="25400"/>
                </a:moveTo>
                <a:lnTo>
                  <a:pt x="50800" y="25400"/>
                </a:lnTo>
              </a:path>
              <a:path extrusionOk="0" h="50800" w="50800">
                <a:moveTo>
                  <a:pt x="0" y="38100"/>
                </a:moveTo>
                <a:lnTo>
                  <a:pt x="38100" y="38100"/>
                </a:lnTo>
              </a:path>
              <a:path extrusionOk="0" h="50800" w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" name="Google Shape;80;p1"/>
          <p:cNvGrpSpPr/>
          <p:nvPr/>
        </p:nvGrpSpPr>
        <p:grpSpPr>
          <a:xfrm>
            <a:off x="5491797" y="3170224"/>
            <a:ext cx="233679" cy="50800"/>
            <a:chOff x="5491797" y="3170224"/>
            <a:chExt cx="233679" cy="50800"/>
          </a:xfrm>
        </p:grpSpPr>
        <p:sp>
          <p:nvSpPr>
            <p:cNvPr id="81" name="Google Shape;81;p1"/>
            <p:cNvSpPr/>
            <p:nvPr/>
          </p:nvSpPr>
          <p:spPr>
            <a:xfrm>
              <a:off x="5613718" y="3200704"/>
              <a:ext cx="20320" cy="20320"/>
            </a:xfrm>
            <a:custGeom>
              <a:rect b="b" l="l" r="r" t="t"/>
              <a:pathLst>
                <a:path extrusionOk="0" h="20319" w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noFill/>
            <a:ln cap="flat" cmpd="sng" w="9525">
              <a:solidFill>
                <a:srgbClr val="ADA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5586654" y="3174209"/>
              <a:ext cx="30480" cy="30480"/>
            </a:xfrm>
            <a:custGeom>
              <a:rect b="b" l="l" r="r" t="t"/>
              <a:pathLst>
                <a:path extrusionOk="0" h="30480" w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noFill/>
            <a:ln cap="flat" cmpd="sng" w="9525">
              <a:solidFill>
                <a:srgbClr val="ADA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5491797" y="3170224"/>
              <a:ext cx="233679" cy="50800"/>
            </a:xfrm>
            <a:custGeom>
              <a:rect b="b" l="l" r="r" t="t"/>
              <a:pathLst>
                <a:path extrusionOk="0" h="50800" w="233679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extrusionOk="0" h="50800" w="233679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extrusionOk="0" h="50800" w="233679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extrusionOk="0" h="50800" w="233679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noFill/>
            <a:ln cap="flat" cmpd="sng" w="9525">
              <a:solidFill>
                <a:srgbClr val="ADA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1"/>
          <p:cNvSpPr txBox="1"/>
          <p:nvPr/>
        </p:nvSpPr>
        <p:spPr>
          <a:xfrm>
            <a:off x="2044700" y="1161449"/>
            <a:ext cx="1524000" cy="439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Duppati Ashritha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&lt;&lt;Roll No.&gt;&gt;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155700" y="1686598"/>
            <a:ext cx="3403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sng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Under the Guidance of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Dr. P. Kayal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Professor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Department of Information Technology</a:t>
            </a:r>
            <a:r>
              <a:rPr b="1" lang="en-US" sz="800">
                <a:latin typeface="Georgia"/>
                <a:ea typeface="Georgia"/>
                <a:cs typeface="Georgia"/>
                <a:sym typeface="Georgia"/>
              </a:rPr>
              <a:t/>
            </a:r>
            <a:r>
              <a:rPr b="1" i="0" lang="en-US" sz="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BVRIT Hyderabad College of Engineering for Women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800" b="1" i="0">
                <a:solidFill>
                  <a:srgbClr val="1A1A1A"/>
                </a:solidFill>
                <a:latin typeface="Georgia"/>
              </a:rPr>
              <a:t>Academic Year: &lt;&lt;Academic Year&gt;&gt;</a:t>
            </a:r>
          </a:p>
        </p:txBody>
      </p:sp>
      <p:grpSp>
        <p:nvGrpSpPr>
          <p:cNvPr id="86" name="Google Shape;86;p1"/>
          <p:cNvGrpSpPr/>
          <p:nvPr/>
        </p:nvGrpSpPr>
        <p:grpSpPr>
          <a:xfrm>
            <a:off x="5069715" y="23243"/>
            <a:ext cx="576579" cy="576580"/>
            <a:chOff x="5069715" y="23243"/>
            <a:chExt cx="576579" cy="576580"/>
          </a:xfrm>
        </p:grpSpPr>
        <p:sp>
          <p:nvSpPr>
            <p:cNvPr id="87" name="Google Shape;87;p1"/>
            <p:cNvSpPr/>
            <p:nvPr/>
          </p:nvSpPr>
          <p:spPr>
            <a:xfrm>
              <a:off x="5069715" y="23243"/>
              <a:ext cx="576579" cy="576580"/>
            </a:xfrm>
            <a:custGeom>
              <a:rect b="b" l="l" r="r" t="t"/>
              <a:pathLst>
                <a:path extrusionOk="0" h="576580" w="576579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8" name="Google Shape;88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95300" y="62405"/>
            <a:ext cx="1850389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Table of Content</a:t>
            </a:r>
            <a:endParaRPr/>
          </a:p>
        </p:txBody>
      </p:sp>
      <p:grpSp>
        <p:nvGrpSpPr>
          <p:cNvPr id="94" name="Google Shape;94;p2"/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95" name="Google Shape;95;p2"/>
            <p:cNvSpPr/>
            <p:nvPr/>
          </p:nvSpPr>
          <p:spPr>
            <a:xfrm>
              <a:off x="5069715" y="23243"/>
              <a:ext cx="576580" cy="576580"/>
            </a:xfrm>
            <a:custGeom>
              <a:rect b="b" l="l" r="r" t="t"/>
              <a:pathLst>
                <a:path extrusionOk="0" h="576580" w="576579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6" name="Google Shape;96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" name="Google Shape;107;p2"/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108" name="Google Shape;108;p2"/>
            <p:cNvSpPr/>
            <p:nvPr/>
          </p:nvSpPr>
          <p:spPr>
            <a:xfrm>
              <a:off x="0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919973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3839946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2"/>
          <p:cNvSpPr txBox="1"/>
          <p:nvPr>
            <p:ph idx="11" type="ftr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Batch No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2411158" y="3107609"/>
            <a:ext cx="937894" cy="136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sng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  <a:hlinkClick action="ppaction://hlinksldjump"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Department of CSE</a:t>
            </a:r>
            <a:endParaRPr b="0" i="0" sz="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3" name="Google Shape;113;p2"/>
          <p:cNvSpPr txBox="1"/>
          <p:nvPr>
            <p:ph idx="10" type="dt"/>
          </p:nvPr>
        </p:nvSpPr>
        <p:spPr>
          <a:xfrm>
            <a:off x="4315459" y="3109203"/>
            <a:ext cx="798829" cy="114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November 21, 2025</a:t>
            </a:r>
            <a:endParaRPr/>
          </a:p>
        </p:txBody>
      </p:sp>
      <p:sp>
        <p:nvSpPr>
          <p:cNvPr id="114" name="Google Shape;114;p2"/>
          <p:cNvSpPr txBox="1"/>
          <p:nvPr>
            <p:ph idx="12" type="sldNum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64592" y="777240"/>
            <a:ext cx="2697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1.  Abstract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2.  Introduction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3.  Literature Review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4.  Literature / Research Gap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5.  Problem Statement &amp; Objectives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6.  Existing System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7.  Proposed System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8.  System Architecture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9.  Algorithms Description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926080" y="777240"/>
            <a:ext cx="2697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10.  Working Modules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11.  Requirements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12.  Technology Stack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13.  Experimental Results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14.  Execution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15.  Result Analysis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16.  Conclusion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17.  Future Scope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18.  References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/>
          <p:nvPr>
            <p:ph type="title"/>
          </p:nvPr>
        </p:nvSpPr>
        <p:spPr>
          <a:xfrm>
            <a:off x="95300" y="62405"/>
            <a:ext cx="1850389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Abstract</a:t>
            </a:r>
            <a:endParaRPr/>
          </a:p>
        </p:txBody>
      </p:sp>
      <p:grpSp>
        <p:nvGrpSpPr>
          <p:cNvPr id="120" name="Google Shape;120;p3"/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121" name="Google Shape;121;p3"/>
            <p:cNvSpPr/>
            <p:nvPr/>
          </p:nvSpPr>
          <p:spPr>
            <a:xfrm>
              <a:off x="5069715" y="23243"/>
              <a:ext cx="576580" cy="576580"/>
            </a:xfrm>
            <a:custGeom>
              <a:rect b="b" l="l" r="r" t="t"/>
              <a:pathLst>
                <a:path extrusionOk="0" h="576580" w="576579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2" name="Google Shape;122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3" name="Google Shape;123;p3"/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124" name="Google Shape;124;p3"/>
            <p:cNvSpPr/>
            <p:nvPr/>
          </p:nvSpPr>
          <p:spPr>
            <a:xfrm>
              <a:off x="0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1919973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3839946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3"/>
          <p:cNvSpPr txBox="1"/>
          <p:nvPr>
            <p:ph idx="11" type="ftr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Batch No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2411158" y="3107609"/>
            <a:ext cx="937894" cy="136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sng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Department of CSE</a:t>
            </a:r>
            <a:endParaRPr b="0" i="0" sz="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9" name="Google Shape;129;p3"/>
          <p:cNvSpPr txBox="1"/>
          <p:nvPr>
            <p:ph idx="10" type="dt"/>
          </p:nvPr>
        </p:nvSpPr>
        <p:spPr>
          <a:xfrm>
            <a:off x="4315459" y="3109203"/>
            <a:ext cx="798829" cy="114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November 21, 2025</a:t>
            </a:r>
            <a:endParaRPr/>
          </a:p>
        </p:txBody>
      </p:sp>
      <p:sp>
        <p:nvSpPr>
          <p:cNvPr id="130" name="Google Shape;130;p3"/>
          <p:cNvSpPr txBox="1"/>
          <p:nvPr>
            <p:ph idx="12" type="sldNum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292100" y="778804"/>
            <a:ext cx="523656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marL="0" marR="0" rtl="0" algn="just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r>
              <a:rPr sz="860" b="0" i="0">
                <a:solidFill>
                  <a:srgbClr val="1A1A1A"/>
                </a:solidFill>
                <a:latin typeface="Arial"/>
              </a:rPr>
              <a:t>● Overview: PropManage is a dual-portal MERN-stack (MongoDB, Express.js, React.js, Node.js) platform unifying property cataloguing, booking, payments, contracts, and maintenance in one system.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60" b="0" i="0">
                <a:solidFill>
                  <a:srgbClr val="1A1A1A"/>
                </a:solidFill>
                <a:latin typeface="Arial"/>
              </a:rPr>
              <a:t>● Problem addressed: small/mid-size property operators rely on fragmented manual workflows -- spreadsheets, calls, paper records.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60" b="0" i="0">
                <a:solidFill>
                  <a:srgbClr val="1A1A1A"/>
                </a:solidFill>
                <a:latin typeface="Arial"/>
              </a:rPr>
              <a:t>● Proposed solution: role-segmented client-user &amp; client-admin portals, real-time WebSocket alerts, HMAC-verified payments, a multilingual voice-enabled AI assistant, and a Power BI analytics layer.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60" b="0" i="0">
                <a:solidFill>
                  <a:srgbClr val="1A1A1A"/>
                </a:solidFill>
                <a:latin typeface="Arial"/>
              </a:rPr>
              <a:t>● Technologies: React.js, Node.js/Express.js, MongoDB Atlas, Socket.IO, Razorpay, Google Gemini API, Web Speech API, Power BI.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60" b="0" i="0">
                <a:solidFill>
                  <a:srgbClr val="1A1A1A"/>
                </a:solidFill>
                <a:latin typeface="Arial"/>
              </a:rPr>
              <a:t>● Expected outcome: verified payments, sub-second notification, voice-accessible AI, and live BI dashboards -- validated by 38/38 functional and 14/14 security tests.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/>
          <p:nvPr/>
        </p:nvSpPr>
        <p:spPr>
          <a:xfrm>
            <a:off x="95300" y="62400"/>
            <a:ext cx="1422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Introduction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37" name="Google Shape;137;p5"/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138" name="Google Shape;138;p5"/>
            <p:cNvSpPr/>
            <p:nvPr/>
          </p:nvSpPr>
          <p:spPr>
            <a:xfrm>
              <a:off x="5069715" y="23243"/>
              <a:ext cx="576580" cy="576580"/>
            </a:xfrm>
            <a:custGeom>
              <a:rect b="b" l="l" r="r" t="t"/>
              <a:pathLst>
                <a:path extrusionOk="0" h="576580" w="576579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9" name="Google Shape;139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0" name="Google Shape;140;p5"/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141" name="Google Shape;141;p5"/>
            <p:cNvSpPr/>
            <p:nvPr/>
          </p:nvSpPr>
          <p:spPr>
            <a:xfrm>
              <a:off x="0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1919973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3839946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4" name="Google Shape;144;p5"/>
          <p:cNvSpPr txBox="1"/>
          <p:nvPr>
            <p:ph idx="11" type="ftr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Batch No</a:t>
            </a:r>
            <a:endParaRPr/>
          </a:p>
        </p:txBody>
      </p:sp>
      <p:sp>
        <p:nvSpPr>
          <p:cNvPr id="145" name="Google Shape;145;p5"/>
          <p:cNvSpPr txBox="1"/>
          <p:nvPr/>
        </p:nvSpPr>
        <p:spPr>
          <a:xfrm>
            <a:off x="2411158" y="3107609"/>
            <a:ext cx="937894" cy="136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sng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Department of CSE</a:t>
            </a:r>
            <a:endParaRPr b="0" i="0" sz="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6" name="Google Shape;146;p5"/>
          <p:cNvSpPr txBox="1"/>
          <p:nvPr>
            <p:ph idx="10" type="dt"/>
          </p:nvPr>
        </p:nvSpPr>
        <p:spPr>
          <a:xfrm>
            <a:off x="4315459" y="3109203"/>
            <a:ext cx="798829" cy="114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November 21, 2025</a:t>
            </a:r>
            <a:endParaRPr/>
          </a:p>
        </p:txBody>
      </p:sp>
      <p:sp>
        <p:nvSpPr>
          <p:cNvPr id="147" name="Google Shape;147;p5"/>
          <p:cNvSpPr txBox="1"/>
          <p:nvPr>
            <p:ph idx="12" type="sldNum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37160" y="777240"/>
            <a:ext cx="5486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950" b="1" i="0">
                <a:solidFill>
                  <a:srgbClr val="1A1A1A"/>
                </a:solidFill>
                <a:latin typeface="Arial"/>
              </a:rPr>
              <a:t>● Background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   ● Property seekers &amp; small/mid-size operators still coordinate via phone calls, messaging apps, and paper records.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950" b="1" i="0">
                <a:solidFill>
                  <a:srgbClr val="1A1A1A"/>
                </a:solidFill>
                <a:latin typeface="Arial"/>
              </a:rPr>
              <a:t>● Motivation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   ● Banking, hospitality &amp; e-commerce have digitized; real estate management remains largely manual, causing double-booking, unverifiable payments and missed renewals.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950" b="1" i="0">
                <a:solidFill>
                  <a:srgbClr val="1A1A1A"/>
                </a:solidFill>
                <a:latin typeface="Arial"/>
              </a:rPr>
              <a:t>● Importance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   ● A unified, secure, AI- and voice-assisted platform reduces admin overhead and improves accessibility for non-English-speaking users.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950" b="1" i="0">
                <a:solidFill>
                  <a:srgbClr val="1A1A1A"/>
                </a:solidFill>
                <a:latin typeface="Arial"/>
              </a:rPr>
              <a:t>● Real-World Applications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   ● Rental &amp; sale management firms, individual property owners, brokers, and tenant/buyer self-service portals.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2362af273_0_0"/>
          <p:cNvSpPr txBox="1"/>
          <p:nvPr/>
        </p:nvSpPr>
        <p:spPr>
          <a:xfrm>
            <a:off x="95300" y="62400"/>
            <a:ext cx="19632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Problem Statement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137160" y="777240"/>
            <a:ext cx="5486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950" b="0" i="0">
                <a:solidFill>
                  <a:srgbClr val="1A1A1A"/>
                </a:solidFill>
                <a:latin typeface="Arial"/>
              </a:rPr>
              <a:t>● Small and mid-size property operators lack a single system covering the full lifecycle -- listing, visit scheduling, payment collection, contract management, and maintenance tracking.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950" b="0" i="0">
                <a:solidFill>
                  <a:srgbClr val="1A1A1A"/>
                </a:solidFill>
                <a:latin typeface="Arial"/>
              </a:rPr>
              <a:t>● Manual, spreadsheet- and messaging-based coordination causes: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   ● Double-booked property visits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   ● Payment records that cannot be independently verified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   ● Delayed staff awareness of new bookings/payments (inbox polling)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   ● No assistance for users outside staff working hours or fluent only in a regional language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   ● No live, self-service business-intelligence view for owners/admins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2362af273_0_4"/>
          <p:cNvSpPr txBox="1"/>
          <p:nvPr/>
        </p:nvSpPr>
        <p:spPr>
          <a:xfrm>
            <a:off x="95300" y="62400"/>
            <a:ext cx="1422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Objectives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137160" y="713232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0" i="0">
                <a:solidFill>
                  <a:srgbClr val="1A1A1A"/>
                </a:solidFill>
                <a:latin typeface="Arial"/>
              </a:rPr>
              <a:t>● Unify cataloguing, scheduling, payments, contracts &amp; maintenance in one role-segmented, dual-portal platform.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0" i="0">
                <a:solidFill>
                  <a:srgbClr val="1A1A1A"/>
                </a:solidFill>
                <a:latin typeface="Arial"/>
              </a:rPr>
              <a:t>● Deliver real-time (sub-second) operational alerts to admin staff via WebSocket, removing inbox-polling delay.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0" i="0">
                <a:solidFill>
                  <a:srgbClr val="1A1A1A"/>
                </a:solidFill>
                <a:latin typeface="Arial"/>
              </a:rPr>
              <a:t>● Cryptographically verify every high-value payment server-side (HMAC-SHA256) before committing any financial record.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0" i="0">
                <a:solidFill>
                  <a:srgbClr val="1A1A1A"/>
                </a:solidFill>
                <a:latin typeface="Arial"/>
              </a:rPr>
              <a:t>● Provide a context-grounded AI assistant with multilingual (English/Hindi/Telugu) voice input &amp; output.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0" i="0">
                <a:solidFill>
                  <a:srgbClr val="1A1A1A"/>
                </a:solidFill>
                <a:latin typeface="Arial"/>
              </a:rPr>
              <a:t>● Enforce role-based access control so a de-activated account loses access on its very next request.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0" i="0">
                <a:solidFill>
                  <a:srgbClr val="1A1A1A"/>
                </a:solidFill>
                <a:latin typeface="Arial"/>
              </a:rPr>
              <a:t>● Expose a secure, independently-authenticated Power BI analytics API for live business-intelligence dashboards.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0" i="0">
                <a:solidFill>
                  <a:srgbClr val="1A1A1A"/>
                </a:solidFill>
                <a:latin typeface="Arial"/>
              </a:rPr>
              <a:t>● Empirically evaluate functional correctness, security, and concurrent-load performance.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2362af273_0_8"/>
          <p:cNvSpPr txBox="1"/>
          <p:nvPr/>
        </p:nvSpPr>
        <p:spPr>
          <a:xfrm>
            <a:off x="95300" y="62400"/>
            <a:ext cx="1422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Scope of Work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137160" y="777240"/>
            <a:ext cx="5486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950" b="1" i="0">
                <a:solidFill>
                  <a:srgbClr val="1A1A1A"/>
                </a:solidFill>
                <a:latin typeface="Arial"/>
              </a:rPr>
              <a:t>● In scope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   ● Property listing/search, visit &amp; purchase booking, UPI/Razorpay payments, rental &amp; purchase contracts, maintenance tickets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   ● Real-time admin notifications, multilingual voice AI assistant, Power BI analytics endpoints, role-based security hardening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950" b="1" i="0">
                <a:solidFill>
                  <a:srgbClr val="1A1A1A"/>
                </a:solidFill>
                <a:latin typeface="Arial"/>
              </a:rPr>
              <a:t>● Out of scope (this phase)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   ● Native mobile app, full UI localization/RTL layout, IoT/smart-lock integration, predictive pricing analytics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950" b="1" i="0">
                <a:solidFill>
                  <a:srgbClr val="1A1A1A"/>
                </a:solidFill>
                <a:latin typeface="Arial"/>
              </a:rPr>
              <a:t>● Target users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   ● Property seekers &amp; tenants, property owners, and platform administrators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 txBox="1"/>
          <p:nvPr/>
        </p:nvSpPr>
        <p:spPr>
          <a:xfrm>
            <a:off x="95300" y="62400"/>
            <a:ext cx="21918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Literature Review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68" name="Google Shape;168;p6"/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169" name="Google Shape;169;p6"/>
            <p:cNvSpPr/>
            <p:nvPr/>
          </p:nvSpPr>
          <p:spPr>
            <a:xfrm>
              <a:off x="5069715" y="23243"/>
              <a:ext cx="576580" cy="576580"/>
            </a:xfrm>
            <a:custGeom>
              <a:rect b="b" l="l" r="r" t="t"/>
              <a:pathLst>
                <a:path extrusionOk="0" h="576580" w="576579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0" name="Google Shape;170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3" name="Google Shape;173;p6"/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174" name="Google Shape;174;p6"/>
            <p:cNvSpPr/>
            <p:nvPr/>
          </p:nvSpPr>
          <p:spPr>
            <a:xfrm>
              <a:off x="0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1919973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3839946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" name="Google Shape;177;p6"/>
          <p:cNvSpPr txBox="1"/>
          <p:nvPr>
            <p:ph idx="11" type="ftr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Batch No</a:t>
            </a:r>
            <a:endParaRPr/>
          </a:p>
        </p:txBody>
      </p:sp>
      <p:sp>
        <p:nvSpPr>
          <p:cNvPr id="178" name="Google Shape;178;p6"/>
          <p:cNvSpPr txBox="1"/>
          <p:nvPr/>
        </p:nvSpPr>
        <p:spPr>
          <a:xfrm>
            <a:off x="2411158" y="3107609"/>
            <a:ext cx="937894" cy="136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sng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Department of CSE</a:t>
            </a:r>
            <a:endParaRPr b="0" i="0" sz="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9" name="Google Shape;179;p6"/>
          <p:cNvSpPr txBox="1"/>
          <p:nvPr>
            <p:ph idx="10" type="dt"/>
          </p:nvPr>
        </p:nvSpPr>
        <p:spPr>
          <a:xfrm>
            <a:off x="4315459" y="3109203"/>
            <a:ext cx="798829" cy="114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November 21, 2025</a:t>
            </a:r>
            <a:endParaRPr/>
          </a:p>
        </p:txBody>
      </p:sp>
      <p:sp>
        <p:nvSpPr>
          <p:cNvPr id="180" name="Google Shape;180;p6"/>
          <p:cNvSpPr txBox="1"/>
          <p:nvPr>
            <p:ph idx="12" type="sldNum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/>
          </a:p>
        </p:txBody>
      </p:sp>
      <p:graphicFrame>
        <p:nvGraphicFramePr>
          <p:cNvPr id="181" name="Table 180"/>
          <p:cNvGraphicFramePr>
            <a:graphicFrameLocks noGrp="1"/>
          </p:cNvGraphicFramePr>
          <p:nvPr/>
        </p:nvGraphicFramePr>
        <p:xfrm>
          <a:off x="45720" y="548640"/>
          <a:ext cx="565099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"/>
                <a:gridCol w="1417320"/>
                <a:gridCol w="868680"/>
                <a:gridCol w="777240"/>
                <a:gridCol w="1508760"/>
                <a:gridCol w="877824"/>
              </a:tblGrid>
              <a:tr h="359228"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>
                          <a:solidFill>
                            <a:srgbClr val="1A1A1A"/>
                          </a:solidFill>
                          <a:latin typeface="Georgia"/>
                        </a:rPr>
                        <a:t>#</a:t>
                      </a:r>
                    </a:p>
                  </a:txBody>
                  <a:tcPr marL="36576" marR="36576" marT="18288" marB="18288" anchor="ctr">
                    <a:solidFill>
                      <a:srgbClr val="E4E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>
                          <a:solidFill>
                            <a:srgbClr val="1A1A1A"/>
                          </a:solidFill>
                          <a:latin typeface="Georgia"/>
                        </a:rPr>
                        <a:t>Paper (Authors, Year)</a:t>
                      </a:r>
                    </a:p>
                  </a:txBody>
                  <a:tcPr marL="36576" marR="36576" marT="18288" marB="18288" anchor="ctr">
                    <a:solidFill>
                      <a:srgbClr val="E4E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>
                          <a:solidFill>
                            <a:srgbClr val="1A1A1A"/>
                          </a:solidFill>
                          <a:latin typeface="Georgia"/>
                        </a:rPr>
                        <a:t>Journal</a:t>
                      </a:r>
                    </a:p>
                  </a:txBody>
                  <a:tcPr marL="36576" marR="36576" marT="18288" marB="18288" anchor="ctr">
                    <a:solidFill>
                      <a:srgbClr val="E4E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>
                          <a:solidFill>
                            <a:srgbClr val="1A1A1A"/>
                          </a:solidFill>
                          <a:latin typeface="Georgia"/>
                        </a:rPr>
                        <a:t>Method</a:t>
                      </a:r>
                    </a:p>
                  </a:txBody>
                  <a:tcPr marL="36576" marR="36576" marT="18288" marB="18288" anchor="ctr">
                    <a:solidFill>
                      <a:srgbClr val="E4E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>
                          <a:solidFill>
                            <a:srgbClr val="1A1A1A"/>
                          </a:solidFill>
                          <a:latin typeface="Georgia"/>
                        </a:rPr>
                        <a:t>Key Finding</a:t>
                      </a:r>
                    </a:p>
                  </a:txBody>
                  <a:tcPr marL="36576" marR="36576" marT="18288" marB="18288" anchor="ctr">
                    <a:solidFill>
                      <a:srgbClr val="E4E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>
                          <a:solidFill>
                            <a:srgbClr val="1A1A1A"/>
                          </a:solidFill>
                          <a:latin typeface="Georgia"/>
                        </a:rPr>
                        <a:t>Limitation</a:t>
                      </a:r>
                    </a:p>
                  </a:txBody>
                  <a:tcPr marL="36576" marR="36576" marT="18288" marB="18288" anchor="ctr">
                    <a:solidFill>
                      <a:srgbClr val="E4E4F3"/>
                    </a:solidFill>
                  </a:tcPr>
                </a:tc>
              </a:tr>
              <a:tr h="359228"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Digital transformation in real estate (Al-haimi et al., 2025)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Int. J. Inf. Mgmt. Data Insights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Systematic review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Operators still rely on manual, spreadsheet coordination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Review-level only</a:t>
                      </a:r>
                    </a:p>
                  </a:txBody>
                  <a:tcPr marL="36576" marR="36576" marT="18288" marB="18288" anchor="ctr"/>
                </a:tc>
              </a:tr>
              <a:tr h="359228"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MERN stack unveiled (Bhat et al., 2023)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Tuijin Jishu / Prop. Technol.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Architectural analysis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Unified JSON pipeline cuts transformation code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Not tested at system scale</a:t>
                      </a:r>
                    </a:p>
                  </a:txBody>
                  <a:tcPr marL="36576" marR="36576" marT="18288" marB="18288" anchor="ctr"/>
                </a:tc>
              </a:tr>
              <a:tr h="359228"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LLM chatbot impact (Meduri, 2024)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Int. J. Sci. Res. CSEIT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Cross-sector study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LLM bots improve query resolution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No live-data grounding</a:t>
                      </a:r>
                    </a:p>
                  </a:txBody>
                  <a:tcPr marL="36576" marR="36576" marT="18288" marB="18288" anchor="ctr"/>
                </a:tc>
              </a:tr>
              <a:tr h="359228"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Multilingualism in voice assistants (Sabharwal &amp; Sahni, 2024)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Int. J. Electr. Electron. Comput.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Linguistic survey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Code-switching &amp; low-resource barriers identified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No working system built</a:t>
                      </a:r>
                    </a:p>
                  </a:txBody>
                  <a:tcPr marL="36576" marR="36576" marT="18288" marB="18288" anchor="ctr"/>
                </a:tc>
              </a:tr>
              <a:tr h="359228"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JWTKey vulnerability detection (Bowen et al., 2023)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Computer Security -- ESORICS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Security audit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Crypto flaws in most audited JWT apps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Diagnostic tool only</a:t>
                      </a:r>
                    </a:p>
                  </a:txBody>
                  <a:tcPr marL="36576" marR="36576" marT="18288" marB="18288" anchor="ctr"/>
                </a:tc>
              </a:tr>
              <a:tr h="359232"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AI adoption in property mgmt. (Adediran et al., 2025)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Property Management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Trend analysis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Deployed AI-integrated systems rarely evaluated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Review-level only</a:t>
                      </a:r>
                    </a:p>
                  </a:txBody>
                  <a:tcPr marL="36576" marR="36576" marT="18288" marB="18288" anchor="ctr"/>
                </a:tc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2362af273_0_12"/>
          <p:cNvSpPr txBox="1"/>
          <p:nvPr/>
        </p:nvSpPr>
        <p:spPr>
          <a:xfrm>
            <a:off x="95300" y="62400"/>
            <a:ext cx="1422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Research Gaps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137160" y="777240"/>
            <a:ext cx="5486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869" b="1" i="0">
                <a:solidFill>
                  <a:srgbClr val="1A1A1A"/>
                </a:solidFill>
                <a:latin typeface="Arial"/>
              </a:rPr>
              <a:t>● What existing research has achieved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769" b="0" i="0">
                <a:solidFill>
                  <a:srgbClr val="1A1A1A"/>
                </a:solidFill>
                <a:latin typeface="Arial"/>
              </a:rPr>
              <a:t>   ● Documents workflow fragmentation &amp; manual coordination in real estate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769" b="0" i="0">
                <a:solidFill>
                  <a:srgbClr val="1A1A1A"/>
                </a:solidFill>
                <a:latin typeface="Arial"/>
              </a:rPr>
              <a:t>   ● Demonstrates LLM chatbots improve query resolution; flags provider dependency and lack of live-data grounding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769" b="0" i="0">
                <a:solidFill>
                  <a:srgbClr val="1A1A1A"/>
                </a:solidFill>
                <a:latin typeface="Arial"/>
              </a:rPr>
              <a:t>   ● Audits JWT / API security in isolation, as diagnostic tools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869" b="1" i="0">
                <a:solidFill>
                  <a:srgbClr val="1A1A1A"/>
                </a:solidFill>
                <a:latin typeface="Arial"/>
              </a:rPr>
              <a:t>● Limitations / missing pieces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769" b="0" i="0">
                <a:solidFill>
                  <a:srgbClr val="1A1A1A"/>
                </a:solidFill>
                <a:latin typeface="Arial"/>
              </a:rPr>
              <a:t>   ● No study integrates verified payments, real-time notification &amp; conversational assistance in one deployed, tested system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769" b="0" i="0">
                <a:solidFill>
                  <a:srgbClr val="1A1A1A"/>
                </a:solidFill>
                <a:latin typeface="Arial"/>
              </a:rPr>
              <a:t>   ● No reviewed assistant is simultaneously domain-grounded, multilingual, AND voice-enabled at zero extra infrastructure cost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869" b="1" i="0">
                <a:solidFill>
                  <a:srgbClr val="1A1A1A"/>
                </a:solidFill>
                <a:latin typeface="Arial"/>
              </a:rPr>
              <a:t>● How PropManage fills these gaps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769" b="0" i="0">
                <a:solidFill>
                  <a:srgbClr val="1A1A1A"/>
                </a:solidFill>
                <a:latin typeface="Arial"/>
              </a:rPr>
              <a:t>   ● Combines HMAC-verified payments + WebSocket notification + multilingual voice AI + Power BI analytics in one empirically evaluated MERN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2362af273_0_16"/>
          <p:cNvSpPr txBox="1"/>
          <p:nvPr/>
        </p:nvSpPr>
        <p:spPr>
          <a:xfrm>
            <a:off x="95300" y="62400"/>
            <a:ext cx="34713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Existing Systems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1" name="TextBox 190"/>
          <p:cNvSpPr txBox="1"/>
          <p:nvPr/>
        </p:nvSpPr>
        <p:spPr>
          <a:xfrm>
            <a:off x="137160" y="777240"/>
            <a:ext cx="5486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880" b="1" i="0">
                <a:solidFill>
                  <a:srgbClr val="1A1A1A"/>
                </a:solidFill>
                <a:latin typeface="Arial"/>
              </a:rPr>
              <a:t>● Current approaches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780" b="0" i="0">
                <a:solidFill>
                  <a:srgbClr val="1A1A1A"/>
                </a:solidFill>
                <a:latin typeface="Arial"/>
              </a:rPr>
              <a:t>   ● Manual coordination: phone calls, spreadsheets, messaging apps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780" b="0" i="0">
                <a:solidFill>
                  <a:srgbClr val="1A1A1A"/>
                </a:solidFill>
                <a:latin typeface="Arial"/>
              </a:rPr>
              <a:t>   ● Listing portals (e.g. Bayut.com, Dubizzle): browsing only, no booking/payment/contract workflow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780" b="0" i="0">
                <a:solidFill>
                  <a:srgbClr val="1A1A1A"/>
                </a:solidFill>
                <a:latin typeface="Arial"/>
              </a:rPr>
              <a:t>   ● Commercial suites (e.g. Buildium, AppFolio): cover more lifecycle steps but at enterprise cost, with no verified real-time payments or AI/voice assistance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880" b="1" i="0">
                <a:solidFill>
                  <a:srgbClr val="1A1A1A"/>
                </a:solidFill>
                <a:latin typeface="Arial"/>
              </a:rPr>
              <a:t>● Disadvantages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780" b="0" i="0">
                <a:solidFill>
                  <a:srgbClr val="1A1A1A"/>
                </a:solidFill>
                <a:latin typeface="Arial"/>
              </a:rPr>
              <a:t>   ● Manual, time-consuming coordination; double-booked visits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780" b="0" i="0">
                <a:solidFill>
                  <a:srgbClr val="1A1A1A"/>
                </a:solidFill>
                <a:latin typeface="Arial"/>
              </a:rPr>
              <a:t>   ● Payment records that cannot be independently/cryptographically verified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780" b="0" i="0">
                <a:solidFill>
                  <a:srgbClr val="1A1A1A"/>
                </a:solidFill>
                <a:latin typeface="Arial"/>
              </a:rPr>
              <a:t>   ● No real-time staff notification -- delayed response to bookings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780" b="0" i="0">
                <a:solidFill>
                  <a:srgbClr val="1A1A1A"/>
                </a:solidFill>
                <a:latin typeface="Arial"/>
              </a:rPr>
              <a:t>   ● No conversational or voice-based assistance; no regional-language support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780" b="0" i="0">
                <a:solidFill>
                  <a:srgbClr val="1A1A1A"/>
                </a:solidFill>
                <a:latin typeface="Arial"/>
              </a:rPr>
              <a:t>   ● High cost and poor scalability for small/mid-size operators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2362af273_0_20"/>
          <p:cNvSpPr txBox="1"/>
          <p:nvPr/>
        </p:nvSpPr>
        <p:spPr>
          <a:xfrm>
            <a:off x="95300" y="62400"/>
            <a:ext cx="25182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Proposed System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137160" y="777240"/>
            <a:ext cx="5486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● New workflow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750" b="0" i="0">
                <a:solidFill>
                  <a:srgbClr val="1A1A1A"/>
                </a:solidFill>
                <a:latin typeface="Arial"/>
              </a:rPr>
              <a:t>   ● Single role-segmented, dual-portal MERN platform covering the full lifecycle end to end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● New features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750" b="0" i="0">
                <a:solidFill>
                  <a:srgbClr val="1A1A1A"/>
                </a:solidFill>
                <a:latin typeface="Arial"/>
              </a:rPr>
              <a:t>   ● Real-time WebSocket staff notification; HMAC-SHA256 verified payments; multilingual (English/Hindi/Telugu) voice AI assistant; Power BI analytics API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● Advantages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750" b="0" i="0">
                <a:solidFill>
                  <a:srgbClr val="1A1A1A"/>
                </a:solidFill>
                <a:latin typeface="Arial"/>
              </a:rPr>
              <a:t>   ● Faster: sub-second notifications, no polling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750" b="0" i="0">
                <a:solidFill>
                  <a:srgbClr val="1A1A1A"/>
                </a:solidFill>
                <a:latin typeface="Arial"/>
              </a:rPr>
              <a:t>   ● More secure: cryptographic payment verification, per-request RBAC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750" b="0" i="0">
                <a:solidFill>
                  <a:srgbClr val="1A1A1A"/>
                </a:solidFill>
                <a:latin typeface="Arial"/>
              </a:rPr>
              <a:t>   ● User-friendly &amp; accessible: voice input/output, multilingual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750" b="0" i="0">
                <a:solidFill>
                  <a:srgbClr val="1A1A1A"/>
                </a:solidFill>
                <a:latin typeface="Arial"/>
              </a:rPr>
              <a:t>   ● Scalable &amp; intelligent: BI-ready analytics, context-grounded AI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● Novelty / Extension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750" b="0" i="0">
                <a:solidFill>
                  <a:srgbClr val="1A1A1A"/>
                </a:solidFill>
                <a:latin typeface="Arial"/>
              </a:rPr>
              <a:t>   ● Browser-native, zero-cost multilingual voice assistant integrated with a live-data-grounded chatbot -- not found together in any reviewed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2362af273_0_24"/>
          <p:cNvSpPr txBox="1"/>
          <p:nvPr/>
        </p:nvSpPr>
        <p:spPr>
          <a:xfrm>
            <a:off x="95300" y="62400"/>
            <a:ext cx="23091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System Architecture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1" name="Rounded Rectangle 200"/>
          <p:cNvSpPr/>
          <p:nvPr/>
        </p:nvSpPr>
        <p:spPr>
          <a:xfrm>
            <a:off x="118871" y="777240"/>
            <a:ext cx="1298448" cy="777240"/>
          </a:xfrm>
          <a:prstGeom prst="roundRect">
            <a:avLst/>
          </a:prstGeom>
          <a:solidFill>
            <a:srgbClr val="EFEFFB"/>
          </a:solidFill>
          <a:ln w="15875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20" b="1" i="0">
                <a:solidFill>
                  <a:srgbClr val="1A1A1A"/>
                </a:solidFill>
                <a:latin typeface="Georgia"/>
              </a:rPr>
              <a:t>User</a:t>
            </a:r>
          </a:p>
        </p:txBody>
      </p:sp>
      <p:cxnSp>
        <p:nvCxnSpPr>
          <p:cNvPr id="202" name="Connector 201"/>
          <p:cNvCxnSpPr/>
          <p:nvPr/>
        </p:nvCxnSpPr>
        <p:spPr>
          <a:xfrm>
            <a:off x="1417319" y="1165860"/>
            <a:ext cx="109729" cy="0"/>
          </a:xfrm>
          <a:prstGeom prst="line">
            <a:avLst/>
          </a:prstGeom>
          <a:ln w="19050">
            <a:solidFill>
              <a:srgbClr val="333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Rounded Rectangle 202"/>
          <p:cNvSpPr/>
          <p:nvPr/>
        </p:nvSpPr>
        <p:spPr>
          <a:xfrm>
            <a:off x="1527048" y="777240"/>
            <a:ext cx="1298448" cy="777240"/>
          </a:xfrm>
          <a:prstGeom prst="roundRect">
            <a:avLst/>
          </a:prstGeom>
          <a:solidFill>
            <a:srgbClr val="EFEFFB"/>
          </a:solidFill>
          <a:ln w="15875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20" b="1" i="0">
                <a:solidFill>
                  <a:srgbClr val="1A1A1A"/>
                </a:solidFill>
                <a:latin typeface="Georgia"/>
              </a:rPr>
              <a:t>Frontend
(React Portals)</a:t>
            </a:r>
          </a:p>
        </p:txBody>
      </p:sp>
      <p:cxnSp>
        <p:nvCxnSpPr>
          <p:cNvPr id="204" name="Connector 203"/>
          <p:cNvCxnSpPr/>
          <p:nvPr/>
        </p:nvCxnSpPr>
        <p:spPr>
          <a:xfrm>
            <a:off x="2825496" y="1165860"/>
            <a:ext cx="109728" cy="0"/>
          </a:xfrm>
          <a:prstGeom prst="line">
            <a:avLst/>
          </a:prstGeom>
          <a:ln w="19050">
            <a:solidFill>
              <a:srgbClr val="333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Rounded Rectangle 204"/>
          <p:cNvSpPr/>
          <p:nvPr/>
        </p:nvSpPr>
        <p:spPr>
          <a:xfrm>
            <a:off x="2935224" y="777240"/>
            <a:ext cx="1298448" cy="777240"/>
          </a:xfrm>
          <a:prstGeom prst="roundRect">
            <a:avLst/>
          </a:prstGeom>
          <a:solidFill>
            <a:srgbClr val="EFEFFB"/>
          </a:solidFill>
          <a:ln w="15875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20" b="1" i="0">
                <a:solidFill>
                  <a:srgbClr val="1A1A1A"/>
                </a:solidFill>
                <a:latin typeface="Georgia"/>
              </a:rPr>
              <a:t>Authentication
(JWT / RBAC)</a:t>
            </a:r>
          </a:p>
        </p:txBody>
      </p:sp>
      <p:cxnSp>
        <p:nvCxnSpPr>
          <p:cNvPr id="206" name="Connector 205"/>
          <p:cNvCxnSpPr/>
          <p:nvPr/>
        </p:nvCxnSpPr>
        <p:spPr>
          <a:xfrm>
            <a:off x="4233672" y="1165860"/>
            <a:ext cx="109728" cy="0"/>
          </a:xfrm>
          <a:prstGeom prst="line">
            <a:avLst/>
          </a:prstGeom>
          <a:ln w="19050">
            <a:solidFill>
              <a:srgbClr val="333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Rounded Rectangle 206"/>
          <p:cNvSpPr/>
          <p:nvPr/>
        </p:nvSpPr>
        <p:spPr>
          <a:xfrm>
            <a:off x="4343400" y="777240"/>
            <a:ext cx="1298448" cy="777240"/>
          </a:xfrm>
          <a:prstGeom prst="roundRect">
            <a:avLst/>
          </a:prstGeom>
          <a:solidFill>
            <a:srgbClr val="EFEFFB"/>
          </a:solidFill>
          <a:ln w="15875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20" b="1" i="0">
                <a:solidFill>
                  <a:srgbClr val="1A1A1A"/>
                </a:solidFill>
                <a:latin typeface="Georgia"/>
              </a:rPr>
              <a:t>Voice Assistant
(Gemini + Web Speech API)</a:t>
            </a:r>
          </a:p>
        </p:txBody>
      </p:sp>
      <p:cxnSp>
        <p:nvCxnSpPr>
          <p:cNvPr id="208" name="Connector 207"/>
          <p:cNvCxnSpPr/>
          <p:nvPr/>
        </p:nvCxnSpPr>
        <p:spPr>
          <a:xfrm>
            <a:off x="4992624" y="1554480"/>
            <a:ext cx="0" cy="411480"/>
          </a:xfrm>
          <a:prstGeom prst="line">
            <a:avLst/>
          </a:prstGeom>
          <a:ln w="19050">
            <a:solidFill>
              <a:srgbClr val="333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Rounded Rectangle 208"/>
          <p:cNvSpPr/>
          <p:nvPr/>
        </p:nvSpPr>
        <p:spPr>
          <a:xfrm>
            <a:off x="4343400" y="1965960"/>
            <a:ext cx="1298448" cy="777240"/>
          </a:xfrm>
          <a:prstGeom prst="roundRect">
            <a:avLst/>
          </a:prstGeom>
          <a:solidFill>
            <a:srgbClr val="EFEFFB"/>
          </a:solidFill>
          <a:ln w="15875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20" b="1" i="0">
                <a:solidFill>
                  <a:srgbClr val="1A1A1A"/>
                </a:solidFill>
                <a:latin typeface="Georgia"/>
              </a:rPr>
              <a:t>Backend APIs
(Node.js / Express.js)</a:t>
            </a:r>
          </a:p>
        </p:txBody>
      </p:sp>
      <p:cxnSp>
        <p:nvCxnSpPr>
          <p:cNvPr id="210" name="Connector 209"/>
          <p:cNvCxnSpPr/>
          <p:nvPr/>
        </p:nvCxnSpPr>
        <p:spPr>
          <a:xfrm flipH="1">
            <a:off x="4233672" y="2354579"/>
            <a:ext cx="109728" cy="0"/>
          </a:xfrm>
          <a:prstGeom prst="line">
            <a:avLst/>
          </a:prstGeom>
          <a:ln w="19050">
            <a:solidFill>
              <a:srgbClr val="333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Rounded Rectangle 210"/>
          <p:cNvSpPr/>
          <p:nvPr/>
        </p:nvSpPr>
        <p:spPr>
          <a:xfrm>
            <a:off x="2935224" y="1965960"/>
            <a:ext cx="1298448" cy="777240"/>
          </a:xfrm>
          <a:prstGeom prst="roundRect">
            <a:avLst/>
          </a:prstGeom>
          <a:solidFill>
            <a:srgbClr val="EFEFFB"/>
          </a:solidFill>
          <a:ln w="15875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20" b="1" i="0">
                <a:solidFill>
                  <a:srgbClr val="1A1A1A"/>
                </a:solidFill>
                <a:latin typeface="Georgia"/>
              </a:rPr>
              <a:t>Database
(MongoDB Atlas)</a:t>
            </a:r>
          </a:p>
        </p:txBody>
      </p:sp>
      <p:cxnSp>
        <p:nvCxnSpPr>
          <p:cNvPr id="212" name="Connector 211"/>
          <p:cNvCxnSpPr/>
          <p:nvPr/>
        </p:nvCxnSpPr>
        <p:spPr>
          <a:xfrm flipH="1">
            <a:off x="2825496" y="2354579"/>
            <a:ext cx="109728" cy="0"/>
          </a:xfrm>
          <a:prstGeom prst="line">
            <a:avLst/>
          </a:prstGeom>
          <a:ln w="19050">
            <a:solidFill>
              <a:srgbClr val="333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Rounded Rectangle 212"/>
          <p:cNvSpPr/>
          <p:nvPr/>
        </p:nvSpPr>
        <p:spPr>
          <a:xfrm>
            <a:off x="1527048" y="1965960"/>
            <a:ext cx="1298448" cy="777240"/>
          </a:xfrm>
          <a:prstGeom prst="roundRect">
            <a:avLst/>
          </a:prstGeom>
          <a:solidFill>
            <a:srgbClr val="EFEFFB"/>
          </a:solidFill>
          <a:ln w="15875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20" b="1" i="0">
                <a:solidFill>
                  <a:srgbClr val="1A1A1A"/>
                </a:solidFill>
                <a:latin typeface="Georgia"/>
              </a:rPr>
              <a:t>Admin Panel
(Client-Admin Portal)</a:t>
            </a:r>
          </a:p>
        </p:txBody>
      </p:sp>
      <p:cxnSp>
        <p:nvCxnSpPr>
          <p:cNvPr id="214" name="Connector 213"/>
          <p:cNvCxnSpPr/>
          <p:nvPr/>
        </p:nvCxnSpPr>
        <p:spPr>
          <a:xfrm flipH="1">
            <a:off x="1417319" y="2354579"/>
            <a:ext cx="109729" cy="0"/>
          </a:xfrm>
          <a:prstGeom prst="line">
            <a:avLst/>
          </a:prstGeom>
          <a:ln w="19050">
            <a:solidFill>
              <a:srgbClr val="333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Rounded Rectangle 214"/>
          <p:cNvSpPr/>
          <p:nvPr/>
        </p:nvSpPr>
        <p:spPr>
          <a:xfrm>
            <a:off x="118871" y="1965960"/>
            <a:ext cx="1298448" cy="777240"/>
          </a:xfrm>
          <a:prstGeom prst="roundRect">
            <a:avLst/>
          </a:prstGeom>
          <a:solidFill>
            <a:srgbClr val="EFEFFB"/>
          </a:solidFill>
          <a:ln w="15875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20" b="1" i="0">
                <a:solidFill>
                  <a:srgbClr val="1A1A1A"/>
                </a:solidFill>
                <a:latin typeface="Georgia"/>
              </a:rPr>
              <a:t>Reports / Analytics
(Power BI)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2362af273_0_28"/>
          <p:cNvSpPr txBox="1"/>
          <p:nvPr/>
        </p:nvSpPr>
        <p:spPr>
          <a:xfrm>
            <a:off x="95300" y="62400"/>
            <a:ext cx="33669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Methodology / Algorithms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6" name="TextBox 205"/>
          <p:cNvSpPr txBox="1"/>
          <p:nvPr/>
        </p:nvSpPr>
        <p:spPr>
          <a:xfrm>
            <a:off x="137160" y="73152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760" b="1" i="0">
                <a:solidFill>
                  <a:srgbClr val="1A1A1A"/>
                </a:solidFill>
                <a:latin typeface="Arial"/>
              </a:rPr>
              <a:t>● 1. JWT Stateless Authentication &amp; RBAC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   ● Purpose: verify identity without server-side session state.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   ● Working: sign token at login -&gt; re-fetch user record &amp; role on every protected request -&gt; grant/deny by role + active status.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   ● Advantage: a blocked account loses access on its very next request.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760" b="1" i="0">
                <a:solidFill>
                  <a:srgbClr val="1A1A1A"/>
                </a:solidFill>
                <a:latin typeface="Arial"/>
              </a:rPr>
              <a:t>● 2. HMAC-SHA256 Payment Verification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   ● Purpose: guarantee a recorded payment matches what the gateway actually processed.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   ● Working: server recomputes S = HMAC-SHA256(secret, orderId|paymentId) and rejects any mismatch before touching financial records.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   ● Advantage: immune to client-side amount tampering.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760" b="1" i="0">
                <a:solidFill>
                  <a:srgbClr val="1A1A1A"/>
                </a:solidFill>
                <a:latin typeface="Arial"/>
              </a:rPr>
              <a:t>● 3. Real-Time WebSocket Notification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   ● Purpose: alert staff instantly on new bookings/payments.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   ● Working: server broadcasts an event to the admin room immediately after DB persistence -- no polling interval.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760" b="1" i="0">
                <a:solidFill>
                  <a:srgbClr val="1A1A1A"/>
                </a:solidFill>
                <a:latin typeface="Arial"/>
              </a:rPr>
              <a:t>● 4. Multilingual Voice Assistant Pipeline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   ● Purpose: accessible, context-grounded conversational support.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   ● Working: mic -&gt; browser SpeechRecognition -&gt; Gemini (grounded prompt, language-conditioned) -&gt; streamed reply -&gt; SpeechSynthesis (voice-initiated replies only).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760" b="1" i="0">
                <a:solidFill>
                  <a:srgbClr val="1A1A1A"/>
                </a:solidFill>
                <a:latin typeface="Arial"/>
              </a:rPr>
              <a:t>● 5. Power BI Aggregation Pipeline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   ● Purpose: live, read-only business-intelligence dashboards.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   ● Working: MongoDB aggregation (group/facet/time-bucket) behind a dedicated API-key -- scales with reporting dimensions, not row count.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"/>
          <p:cNvSpPr txBox="1"/>
          <p:nvPr/>
        </p:nvSpPr>
        <p:spPr>
          <a:xfrm>
            <a:off x="95300" y="62400"/>
            <a:ext cx="34812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Technology Stack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211" name="Google Shape;211;p7"/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212" name="Google Shape;212;p7"/>
            <p:cNvSpPr/>
            <p:nvPr/>
          </p:nvSpPr>
          <p:spPr>
            <a:xfrm>
              <a:off x="5069715" y="23243"/>
              <a:ext cx="576580" cy="576580"/>
            </a:xfrm>
            <a:custGeom>
              <a:rect b="b" l="l" r="r" t="t"/>
              <a:pathLst>
                <a:path extrusionOk="0" h="576580" w="576579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3" name="Google Shape;213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4" name="Google Shape;214;p7"/>
          <p:cNvSpPr/>
          <p:nvPr/>
        </p:nvSpPr>
        <p:spPr>
          <a:xfrm>
            <a:off x="72333" y="605009"/>
            <a:ext cx="5586730" cy="196850"/>
          </a:xfrm>
          <a:custGeom>
            <a:rect b="b" l="l" r="r" t="t"/>
            <a:pathLst>
              <a:path extrusionOk="0" h="196850" w="5586730">
                <a:moveTo>
                  <a:pt x="553555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6737"/>
                </a:lnTo>
                <a:lnTo>
                  <a:pt x="5586351" y="196737"/>
                </a:lnTo>
                <a:lnTo>
                  <a:pt x="5586351" y="50800"/>
                </a:lnTo>
                <a:lnTo>
                  <a:pt x="5582343" y="31075"/>
                </a:lnTo>
                <a:lnTo>
                  <a:pt x="5571428" y="14922"/>
                </a:lnTo>
                <a:lnTo>
                  <a:pt x="5555275" y="4008"/>
                </a:lnTo>
                <a:lnTo>
                  <a:pt x="5535550" y="0"/>
                </a:lnTo>
                <a:close/>
              </a:path>
            </a:pathLst>
          </a:custGeom>
          <a:solidFill>
            <a:srgbClr val="2626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Frontend &amp; Backend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 txBox="1"/>
          <p:nvPr/>
        </p:nvSpPr>
        <p:spPr>
          <a:xfrm>
            <a:off x="137655" y="1028457"/>
            <a:ext cx="2926080" cy="216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00"/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Frontend &amp; Backend</a:t>
            </a:r>
            <a:endParaRPr b="0" i="0" sz="12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86854" y="1853005"/>
            <a:ext cx="5586730" cy="186690"/>
          </a:xfrm>
          <a:custGeom>
            <a:rect b="b" l="l" r="r" t="t"/>
            <a:pathLst>
              <a:path extrusionOk="0" h="186689" w="5586730">
                <a:moveTo>
                  <a:pt x="553555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194"/>
                </a:lnTo>
                <a:lnTo>
                  <a:pt x="5586351" y="186194"/>
                </a:lnTo>
                <a:lnTo>
                  <a:pt x="5586351" y="50800"/>
                </a:lnTo>
                <a:lnTo>
                  <a:pt x="5582343" y="31075"/>
                </a:lnTo>
                <a:lnTo>
                  <a:pt x="5571428" y="14922"/>
                </a:lnTo>
                <a:lnTo>
                  <a:pt x="5555275" y="4008"/>
                </a:lnTo>
                <a:lnTo>
                  <a:pt x="5535550" y="0"/>
                </a:lnTo>
                <a:close/>
              </a:path>
            </a:pathLst>
          </a:custGeom>
          <a:solidFill>
            <a:srgbClr val="2626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144175" y="1822275"/>
            <a:ext cx="292608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00"/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Third-Party Services &amp; AI</a:t>
            </a:r>
            <a:endParaRPr b="0" i="0" sz="12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8" name="Google Shape;218;p7"/>
          <p:cNvSpPr txBox="1"/>
          <p:nvPr/>
        </p:nvSpPr>
        <p:spPr>
          <a:xfrm>
            <a:off x="65549" y="2073262"/>
            <a:ext cx="55866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1600">
            <a:spAutoFit/>
          </a:bodyPr>
          <a:lstStyle/>
          <a:p>
            <a:pPr indent="-175895" lvl="0" marL="275590" marR="0" rtl="0" algn="l">
              <a:lnSpc>
                <a:spcPct val="100000"/>
              </a:lnSpc>
              <a:spcBef>
                <a:spcPts val="1115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Arial"/>
              <a:buAutoNum type="arabicPeriod"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9" name="Google Shape;219;p7"/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220" name="Google Shape;220;p7"/>
            <p:cNvSpPr/>
            <p:nvPr/>
          </p:nvSpPr>
          <p:spPr>
            <a:xfrm>
              <a:off x="0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7"/>
            <p:cNvSpPr/>
            <p:nvPr/>
          </p:nvSpPr>
          <p:spPr>
            <a:xfrm>
              <a:off x="1919973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7"/>
            <p:cNvSpPr/>
            <p:nvPr/>
          </p:nvSpPr>
          <p:spPr>
            <a:xfrm>
              <a:off x="3839946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3" name="Google Shape;223;p7"/>
          <p:cNvSpPr txBox="1"/>
          <p:nvPr>
            <p:ph idx="11" type="ftr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Batch No</a:t>
            </a:r>
            <a:endParaRPr/>
          </a:p>
        </p:txBody>
      </p:sp>
      <p:sp>
        <p:nvSpPr>
          <p:cNvPr id="224" name="Google Shape;224;p7"/>
          <p:cNvSpPr txBox="1"/>
          <p:nvPr/>
        </p:nvSpPr>
        <p:spPr>
          <a:xfrm>
            <a:off x="2411158" y="3107609"/>
            <a:ext cx="937894" cy="136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sng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Department of CSE</a:t>
            </a:r>
            <a:endParaRPr b="0" i="0" sz="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5" name="Google Shape;225;p7"/>
          <p:cNvSpPr txBox="1"/>
          <p:nvPr>
            <p:ph idx="10" type="dt"/>
          </p:nvPr>
        </p:nvSpPr>
        <p:spPr>
          <a:xfrm>
            <a:off x="4315459" y="3109203"/>
            <a:ext cx="798829" cy="114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November 21, 2025</a:t>
            </a:r>
            <a:endParaRPr/>
          </a:p>
        </p:txBody>
      </p:sp>
      <p:sp>
        <p:nvSpPr>
          <p:cNvPr id="226" name="Google Shape;226;p7"/>
          <p:cNvSpPr txBox="1"/>
          <p:nvPr>
            <p:ph idx="12" type="sldNum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/>
          </a:p>
        </p:txBody>
      </p:sp>
      <p:graphicFrame>
        <p:nvGraphicFramePr>
          <p:cNvPr id="227" name="Table 226"/>
          <p:cNvGraphicFramePr>
            <a:graphicFrameLocks noGrp="1"/>
          </p:cNvGraphicFramePr>
          <p:nvPr/>
        </p:nvGraphicFramePr>
        <p:xfrm>
          <a:off x="91440" y="868680"/>
          <a:ext cx="55778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377440"/>
                <a:gridCol w="2377440"/>
              </a:tblGrid>
              <a:tr h="182880"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>
                          <a:solidFill>
                            <a:srgbClr val="1A1A1A"/>
                          </a:solidFill>
                          <a:latin typeface="Georgia"/>
                        </a:rPr>
                        <a:t>Layer</a:t>
                      </a:r>
                    </a:p>
                  </a:txBody>
                  <a:tcPr marL="36576" marR="36576" marT="18288" marB="18288" anchor="ctr">
                    <a:solidFill>
                      <a:srgbClr val="E4E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>
                          <a:solidFill>
                            <a:srgbClr val="1A1A1A"/>
                          </a:solidFill>
                          <a:latin typeface="Georgia"/>
                        </a:rPr>
                        <a:t>Technology</a:t>
                      </a:r>
                    </a:p>
                  </a:txBody>
                  <a:tcPr marL="36576" marR="36576" marT="18288" marB="18288" anchor="ctr">
                    <a:solidFill>
                      <a:srgbClr val="E4E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>
                          <a:solidFill>
                            <a:srgbClr val="1A1A1A"/>
                          </a:solidFill>
                          <a:latin typeface="Georgia"/>
                        </a:rPr>
                        <a:t>Purpose</a:t>
                      </a:r>
                    </a:p>
                  </a:txBody>
                  <a:tcPr marL="36576" marR="36576" marT="18288" marB="18288" anchor="ctr">
                    <a:solidFill>
                      <a:srgbClr val="E4E4F3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Frontend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React.js 18 (dual portals)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Client-user &amp; Client-admin SPAs</a:t>
                      </a:r>
                    </a:p>
                  </a:txBody>
                  <a:tcPr marL="36576" marR="36576" marT="18288" marB="18288" anchor="ctr"/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Backend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Node.js 18 / Express.js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REST API, business logic</a:t>
                      </a:r>
                    </a:p>
                  </a:txBody>
                  <a:tcPr marL="36576" marR="36576" marT="18288" marB="18288" anchor="ctr"/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Database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MongoDB Atlas / Mongoose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Document persistence &amp; ODM</a:t>
                      </a:r>
                    </a:p>
                  </a:txBody>
                  <a:tcPr marL="36576" marR="36576" marT="18288" marB="18288" anchor="ctr"/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Real-time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Socket.IO (WebSocket)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Live admin notifications</a:t>
                      </a:r>
                    </a:p>
                  </a:txBody>
                  <a:tcPr marL="36576" marR="36576" marT="18288" marB="18288" anchor="ctr"/>
                </a:tc>
              </a:tr>
            </a:tbl>
          </a:graphicData>
        </a:graphic>
      </p:graphicFrame>
      <p:graphicFrame>
        <p:nvGraphicFramePr>
          <p:cNvPr id="228" name="Table 227"/>
          <p:cNvGraphicFramePr>
            <a:graphicFrameLocks noGrp="1"/>
          </p:cNvGraphicFramePr>
          <p:nvPr/>
        </p:nvGraphicFramePr>
        <p:xfrm>
          <a:off x="91440" y="2084831"/>
          <a:ext cx="55778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377440"/>
                <a:gridCol w="2377440"/>
              </a:tblGrid>
              <a:tr h="182880"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>
                          <a:solidFill>
                            <a:srgbClr val="1A1A1A"/>
                          </a:solidFill>
                          <a:latin typeface="Georgia"/>
                        </a:rPr>
                        <a:t>Layer</a:t>
                      </a:r>
                    </a:p>
                  </a:txBody>
                  <a:tcPr marL="36576" marR="36576" marT="18288" marB="18288" anchor="ctr">
                    <a:solidFill>
                      <a:srgbClr val="E4E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>
                          <a:solidFill>
                            <a:srgbClr val="1A1A1A"/>
                          </a:solidFill>
                          <a:latin typeface="Georgia"/>
                        </a:rPr>
                        <a:t>Technology</a:t>
                      </a:r>
                    </a:p>
                  </a:txBody>
                  <a:tcPr marL="36576" marR="36576" marT="18288" marB="18288" anchor="ctr">
                    <a:solidFill>
                      <a:srgbClr val="E4E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>
                          <a:solidFill>
                            <a:srgbClr val="1A1A1A"/>
                          </a:solidFill>
                          <a:latin typeface="Georgia"/>
                        </a:rPr>
                        <a:t>Purpose</a:t>
                      </a:r>
                    </a:p>
                  </a:txBody>
                  <a:tcPr marL="36576" marR="36576" marT="18288" marB="18288" anchor="ctr">
                    <a:solidFill>
                      <a:srgbClr val="E4E4F3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Payments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Razorpay (HMAC-SHA256)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Verified purchase advances</a:t>
                      </a:r>
                    </a:p>
                  </a:txBody>
                  <a:tcPr marL="36576" marR="36576" marT="18288" marB="18288" anchor="ctr"/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AI / Voice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Gemini API + Web Speech API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Multilingual chat &amp; voice I/O</a:t>
                      </a:r>
                    </a:p>
                  </a:txBody>
                  <a:tcPr marL="36576" marR="36576" marT="18288" marB="18288" anchor="ctr"/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Storage / Mail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Cloudinary / Mailjet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Media storage, OTP email</a:t>
                      </a:r>
                    </a:p>
                  </a:txBody>
                  <a:tcPr marL="36576" marR="36576" marT="18288" marB="18288" anchor="ctr"/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Analytics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Power BI (REST API)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Live BI dashboards</a:t>
                      </a:r>
                    </a:p>
                  </a:txBody>
                  <a:tcPr marL="36576" marR="36576" marT="18288" marB="18288" anchor="ctr"/>
                </a:tc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"/>
          <p:cNvSpPr txBox="1"/>
          <p:nvPr>
            <p:ph type="title"/>
          </p:nvPr>
        </p:nvSpPr>
        <p:spPr>
          <a:xfrm>
            <a:off x="95300" y="62400"/>
            <a:ext cx="30666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Experimental Results</a:t>
            </a:r>
            <a:endParaRPr/>
          </a:p>
        </p:txBody>
      </p:sp>
      <p:grpSp>
        <p:nvGrpSpPr>
          <p:cNvPr id="233" name="Google Shape;233;p8"/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234" name="Google Shape;234;p8"/>
            <p:cNvSpPr/>
            <p:nvPr/>
          </p:nvSpPr>
          <p:spPr>
            <a:xfrm>
              <a:off x="5069715" y="23243"/>
              <a:ext cx="576580" cy="576580"/>
            </a:xfrm>
            <a:custGeom>
              <a:rect b="b" l="l" r="r" t="t"/>
              <a:pathLst>
                <a:path extrusionOk="0" h="576580" w="576579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5" name="Google Shape;235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6" name="Google Shape;236;p8"/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237" name="Google Shape;237;p8"/>
            <p:cNvSpPr/>
            <p:nvPr/>
          </p:nvSpPr>
          <p:spPr>
            <a:xfrm>
              <a:off x="0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8"/>
            <p:cNvSpPr/>
            <p:nvPr/>
          </p:nvSpPr>
          <p:spPr>
            <a:xfrm>
              <a:off x="1919973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3839946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0" name="Google Shape;240;p8"/>
          <p:cNvSpPr txBox="1"/>
          <p:nvPr>
            <p:ph idx="11" type="ftr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Batch No</a:t>
            </a:r>
            <a:endParaRPr/>
          </a:p>
        </p:txBody>
      </p:sp>
      <p:sp>
        <p:nvSpPr>
          <p:cNvPr id="241" name="Google Shape;241;p8"/>
          <p:cNvSpPr txBox="1"/>
          <p:nvPr/>
        </p:nvSpPr>
        <p:spPr>
          <a:xfrm>
            <a:off x="2411158" y="3107609"/>
            <a:ext cx="937894" cy="136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sng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Department of CSE</a:t>
            </a:r>
            <a:endParaRPr b="0" i="0" sz="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2" name="Google Shape;242;p8"/>
          <p:cNvSpPr txBox="1"/>
          <p:nvPr>
            <p:ph idx="10" type="dt"/>
          </p:nvPr>
        </p:nvSpPr>
        <p:spPr>
          <a:xfrm>
            <a:off x="4315459" y="3109203"/>
            <a:ext cx="798829" cy="114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November 21, 2025</a:t>
            </a:r>
            <a:endParaRPr/>
          </a:p>
        </p:txBody>
      </p:sp>
      <p:sp>
        <p:nvSpPr>
          <p:cNvPr id="243" name="Google Shape;243;p8"/>
          <p:cNvSpPr txBox="1"/>
          <p:nvPr>
            <p:ph idx="12" type="sldNum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137160" y="777240"/>
            <a:ext cx="2331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 b="1" i="0">
                <a:solidFill>
                  <a:srgbClr val="1A1A1A"/>
                </a:solidFill>
                <a:latin typeface="Arial"/>
              </a:rPr>
              <a:t>● Dataset scale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700" b="0" i="0">
                <a:solidFill>
                  <a:srgbClr val="1A1A1A"/>
                </a:solidFill>
                <a:latin typeface="Arial"/>
              </a:rPr>
              <a:t>   ● 45 properties, 120 users, 280 bookings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700" b="0" i="0">
                <a:solidFill>
                  <a:srgbClr val="1A1A1A"/>
                </a:solidFill>
                <a:latin typeface="Arial"/>
              </a:rPr>
              <a:t>   ● 195 payments, 41 rental + 12 purchase contracts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700" b="0" i="0">
                <a:solidFill>
                  <a:srgbClr val="1A1A1A"/>
                </a:solidFill>
                <a:latin typeface="Arial"/>
              </a:rPr>
              <a:t>   ● 310 financial &amp; 87 service transactions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 b="1" i="0">
                <a:solidFill>
                  <a:srgbClr val="1A1A1A"/>
                </a:solidFill>
                <a:latin typeface="Arial"/>
              </a:rPr>
              <a:t>● Functional correctness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700" b="0" i="0">
                <a:solidFill>
                  <a:srgbClr val="1A1A1A"/>
                </a:solidFill>
                <a:latin typeface="Arial"/>
              </a:rPr>
              <a:t>   ● 38 / 38 scripted test scenarios passed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 b="1" i="0">
                <a:solidFill>
                  <a:srgbClr val="1A1A1A"/>
                </a:solidFill>
                <a:latin typeface="Arial"/>
              </a:rPr>
              <a:t>● Security testing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700" b="0" i="0">
                <a:solidFill>
                  <a:srgbClr val="1A1A1A"/>
                </a:solidFill>
                <a:latin typeface="Arial"/>
              </a:rPr>
              <a:t>   ● 14 / 14 adversarial checks passed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 b="1" i="0">
                <a:solidFill>
                  <a:srgbClr val="1A1A1A"/>
                </a:solidFill>
                <a:latin typeface="Arial"/>
              </a:rPr>
              <a:t>● Concurrent load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700" b="0" i="0">
                <a:solidFill>
                  <a:srgbClr val="1A1A1A"/>
                </a:solidFill>
                <a:latin typeface="Arial"/>
              </a:rPr>
              <a:t>   ● 100 users at sub-500 ms mean latency, &lt;0.2% errors</a:t>
            </a:r>
          </a:p>
        </p:txBody>
      </p:sp>
      <p:graphicFrame>
        <p:nvGraphicFramePr>
          <p:cNvPr id="245" name="Chart 244"/>
          <p:cNvGraphicFramePr>
            <a:graphicFrameLocks noGrp="1"/>
          </p:cNvGraphicFramePr>
          <p:nvPr/>
        </p:nvGraphicFramePr>
        <p:xfrm>
          <a:off x="2606040" y="731520"/>
          <a:ext cx="3063240" cy="2148840"/>
        </p:xfrm>
        <a:graphic>
          <a:graphicData uri="http://schemas.openxmlformats.org/drawingml/2006/chart">
            <c:chart r:id="rId5"/>
          </a:graphicData>
        </a:graphic>
      </p:graphicFrame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2362af273_0_46"/>
          <p:cNvSpPr txBox="1"/>
          <p:nvPr>
            <p:ph type="title"/>
          </p:nvPr>
        </p:nvSpPr>
        <p:spPr>
          <a:xfrm>
            <a:off x="95300" y="62400"/>
            <a:ext cx="35889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Execution</a:t>
            </a:r>
            <a:r>
              <a:rPr lang="en-US"/>
              <a:t/>
            </a:r>
            <a:endParaRPr/>
          </a:p>
        </p:txBody>
      </p:sp>
      <p:sp>
        <p:nvSpPr>
          <p:cNvPr id="249" name="Rectangle 248"/>
          <p:cNvSpPr/>
          <p:nvPr/>
        </p:nvSpPr>
        <p:spPr>
          <a:xfrm>
            <a:off x="64007" y="868680"/>
            <a:ext cx="1353312" cy="1051560"/>
          </a:xfrm>
          <a:prstGeom prst="rect">
            <a:avLst/>
          </a:prstGeom>
          <a:solidFill>
            <a:srgbClr val="F4F4FA"/>
          </a:solidFill>
          <a:ln w="12700">
            <a:solidFill>
              <a:srgbClr val="3333B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 i="1">
                <a:solidFill>
                  <a:srgbClr val="555577"/>
                </a:solidFill>
                <a:latin typeface="Arial"/>
              </a:rPr>
              <a:t>[ Login Screen ]
Paste screenshot here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1490472" y="868680"/>
            <a:ext cx="1353312" cy="1051560"/>
          </a:xfrm>
          <a:prstGeom prst="rect">
            <a:avLst/>
          </a:prstGeom>
          <a:solidFill>
            <a:srgbClr val="F4F4FA"/>
          </a:solidFill>
          <a:ln w="12700">
            <a:solidFill>
              <a:srgbClr val="3333B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 i="1">
                <a:solidFill>
                  <a:srgbClr val="555577"/>
                </a:solidFill>
                <a:latin typeface="Arial"/>
              </a:rPr>
              <a:t>[ Dashboard ]
Paste screenshot here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2916936" y="868680"/>
            <a:ext cx="1353312" cy="1051560"/>
          </a:xfrm>
          <a:prstGeom prst="rect">
            <a:avLst/>
          </a:prstGeom>
          <a:solidFill>
            <a:srgbClr val="F4F4FA"/>
          </a:solidFill>
          <a:ln w="12700">
            <a:solidFill>
              <a:srgbClr val="3333B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 i="1">
                <a:solidFill>
                  <a:srgbClr val="555577"/>
                </a:solidFill>
                <a:latin typeface="Arial"/>
              </a:rPr>
              <a:t>[ Voice Assistant ]
Paste screenshot here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4343400" y="868680"/>
            <a:ext cx="1353312" cy="1051560"/>
          </a:xfrm>
          <a:prstGeom prst="rect">
            <a:avLst/>
          </a:prstGeom>
          <a:solidFill>
            <a:srgbClr val="F4F4FA"/>
          </a:solidFill>
          <a:ln w="12700">
            <a:solidFill>
              <a:srgbClr val="3333B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 i="1">
                <a:solidFill>
                  <a:srgbClr val="555577"/>
                </a:solidFill>
                <a:latin typeface="Arial"/>
              </a:rPr>
              <a:t>[ Admin Panel ]
Paste screenshot here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2362af273_0_41"/>
          <p:cNvSpPr txBox="1"/>
          <p:nvPr>
            <p:ph type="title"/>
          </p:nvPr>
        </p:nvSpPr>
        <p:spPr>
          <a:xfrm>
            <a:off x="95300" y="62405"/>
            <a:ext cx="18504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 Analysis</a:t>
            </a:r>
            <a:endParaRPr/>
          </a:p>
        </p:txBody>
      </p:sp>
      <p:graphicFrame>
        <p:nvGraphicFramePr>
          <p:cNvPr id="255" name="Table 254"/>
          <p:cNvGraphicFramePr>
            <a:graphicFrameLocks noGrp="1"/>
          </p:cNvGraphicFramePr>
          <p:nvPr/>
        </p:nvGraphicFramePr>
        <p:xfrm>
          <a:off x="457200" y="594360"/>
          <a:ext cx="48463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920240"/>
              </a:tblGrid>
              <a:tr h="339634"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A1A1A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36576" marR="36576" marT="18288" marB="18288" anchor="ctr">
                    <a:solidFill>
                      <a:srgbClr val="E4E4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A1A1A"/>
                          </a:solidFill>
                          <a:latin typeface="Georgia"/>
                        </a:rPr>
                        <a:t>Value</a:t>
                      </a:r>
                    </a:p>
                  </a:txBody>
                  <a:tcPr marL="36576" marR="36576" marT="18288" marB="18288" anchor="ctr">
                    <a:solidFill>
                      <a:srgbClr val="E4E4F3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Arial"/>
                        </a:rPr>
                        <a:t>Functional correctness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Arial"/>
                        </a:rPr>
                        <a:t>38 / 38 scenarios passed (100%)</a:t>
                      </a:r>
                    </a:p>
                  </a:txBody>
                  <a:tcPr marL="36576" marR="36576" marT="18288" marB="18288" anchor="ctr"/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Arial"/>
                        </a:rPr>
                        <a:t>Adversarial security tests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Arial"/>
                        </a:rPr>
                        <a:t>14 / 14 passed (100%)</a:t>
                      </a:r>
                    </a:p>
                  </a:txBody>
                  <a:tcPr marL="36576" marR="36576" marT="18288" marB="18288" anchor="ctr"/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Arial"/>
                        </a:rPr>
                        <a:t>Mean latency @ 100 users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Arial"/>
                        </a:rPr>
                        <a:t>494 ms (95th pct. 743 ms)</a:t>
                      </a:r>
                    </a:p>
                  </a:txBody>
                  <a:tcPr marL="36576" marR="36576" marT="18288" marB="18288" anchor="ctr"/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Arial"/>
                        </a:rPr>
                        <a:t>Error rate @ 100 users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Arial"/>
                        </a:rPr>
                        <a:t>0.15%</a:t>
                      </a:r>
                    </a:p>
                  </a:txBody>
                  <a:tcPr marL="36576" marR="36576" marT="18288" marB="18288" anchor="ctr"/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Arial"/>
                        </a:rPr>
                        <a:t>Error rate @ 200 users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Arial"/>
                        </a:rPr>
                        <a:t>3.18%</a:t>
                      </a:r>
                    </a:p>
                  </a:txBody>
                  <a:tcPr marL="36576" marR="36576" marT="18288" marB="18288" anchor="ctr"/>
                </a:tc>
              </a:tr>
              <a:tr h="33963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Arial"/>
                        </a:rPr>
                        <a:t>Real-time notification delivery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Arial"/>
                        </a:rPr>
                        <a:t>&lt; 2 seconds (field-observed)</a:t>
                      </a:r>
                    </a:p>
                  </a:txBody>
                  <a:tcPr marL="36576" marR="36576" marT="18288" marB="18288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2362af273_0_51"/>
          <p:cNvSpPr txBox="1"/>
          <p:nvPr>
            <p:ph type="title"/>
          </p:nvPr>
        </p:nvSpPr>
        <p:spPr>
          <a:xfrm>
            <a:off x="95300" y="62400"/>
            <a:ext cx="3399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137160" y="7772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30" b="0" i="0">
                <a:solidFill>
                  <a:srgbClr val="1A1A1A"/>
                </a:solidFill>
                <a:latin typeface="Arial"/>
              </a:rPr>
              <a:t>● Delivered a dual-portal, three-tier MERN platform unifying cataloguing, booking, payments, contracts &amp; maintenance.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30" b="0" i="0">
                <a:solidFill>
                  <a:srgbClr val="1A1A1A"/>
                </a:solidFill>
                <a:latin typeface="Arial"/>
              </a:rPr>
              <a:t>● All 5 objectives met: real-time notification, HMAC-verified payments, RBAC, multilingual voice AI, and Power BI analytics.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30" b="0" i="0">
                <a:solidFill>
                  <a:srgbClr val="1A1A1A"/>
                </a:solidFill>
                <a:latin typeface="Arial"/>
              </a:rPr>
              <a:t>● Empirically validated: 38/38 functional tests, 14/14 security tests, 100 concurrent users at sub-500 ms latency.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30" b="0" i="0">
                <a:solidFill>
                  <a:srgbClr val="1A1A1A"/>
                </a:solidFill>
                <a:latin typeface="Arial"/>
              </a:rPr>
              <a:t>● Practical benefit: reduces admin overhead, improves payment trust, and adds voice accessibility in English, Hindi &amp; Telugu.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30" b="0" i="0">
                <a:solidFill>
                  <a:srgbClr val="1A1A1A"/>
                </a:solidFill>
                <a:latin typeface="Arial"/>
              </a:rPr>
              <a:t>● Demonstrates a production-quality system built entirely on free-tier tooling, viable for small/mid-size operators.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"/>
          <p:cNvSpPr txBox="1"/>
          <p:nvPr>
            <p:ph type="title"/>
          </p:nvPr>
        </p:nvSpPr>
        <p:spPr>
          <a:xfrm>
            <a:off x="95300" y="62405"/>
            <a:ext cx="1850389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References</a:t>
            </a:r>
            <a:endParaRPr/>
          </a:p>
        </p:txBody>
      </p:sp>
      <p:grpSp>
        <p:nvGrpSpPr>
          <p:cNvPr id="267" name="Google Shape;267;p9"/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268" name="Google Shape;268;p9"/>
            <p:cNvSpPr/>
            <p:nvPr/>
          </p:nvSpPr>
          <p:spPr>
            <a:xfrm>
              <a:off x="5069715" y="23243"/>
              <a:ext cx="576580" cy="576580"/>
            </a:xfrm>
            <a:custGeom>
              <a:rect b="b" l="l" r="r" t="t"/>
              <a:pathLst>
                <a:path extrusionOk="0" h="576580" w="576579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9" name="Google Shape;269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1" name="Google Shape;271;p9"/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272" name="Google Shape;272;p9"/>
            <p:cNvSpPr/>
            <p:nvPr/>
          </p:nvSpPr>
          <p:spPr>
            <a:xfrm>
              <a:off x="0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9"/>
            <p:cNvSpPr/>
            <p:nvPr/>
          </p:nvSpPr>
          <p:spPr>
            <a:xfrm>
              <a:off x="1919973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9"/>
            <p:cNvSpPr/>
            <p:nvPr/>
          </p:nvSpPr>
          <p:spPr>
            <a:xfrm>
              <a:off x="3839946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5" name="Google Shape;275;p9"/>
          <p:cNvSpPr txBox="1"/>
          <p:nvPr>
            <p:ph idx="11" type="ftr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Batch No</a:t>
            </a:r>
            <a:endParaRPr/>
          </a:p>
        </p:txBody>
      </p:sp>
      <p:sp>
        <p:nvSpPr>
          <p:cNvPr id="276" name="Google Shape;276;p9"/>
          <p:cNvSpPr txBox="1"/>
          <p:nvPr/>
        </p:nvSpPr>
        <p:spPr>
          <a:xfrm>
            <a:off x="2411158" y="3107609"/>
            <a:ext cx="937894" cy="136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sng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Department of CSE</a:t>
            </a:r>
            <a:endParaRPr b="0" i="0" sz="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7" name="Google Shape;277;p9"/>
          <p:cNvSpPr txBox="1"/>
          <p:nvPr>
            <p:ph idx="10" type="dt"/>
          </p:nvPr>
        </p:nvSpPr>
        <p:spPr>
          <a:xfrm>
            <a:off x="4315459" y="3109203"/>
            <a:ext cx="798829" cy="114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November 21, 2025</a:t>
            </a:r>
            <a:endParaRPr/>
          </a:p>
        </p:txBody>
      </p:sp>
      <p:sp>
        <p:nvSpPr>
          <p:cNvPr id="278" name="Google Shape;278;p9"/>
          <p:cNvSpPr txBox="1"/>
          <p:nvPr>
            <p:ph idx="12" type="sldNum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137160" y="502920"/>
            <a:ext cx="5486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5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[1] B. Al-haimi, H. Khalid, N. H. Zakaria, and T. H. Jasimin, "Digital transformation in the real estate industry: A systematic literature review," Int. J. Inf. Manage. Data Insights, 2025.</a:t>
            </a:r>
          </a:p>
          <a:p>
            <a:pPr>
              <a:lnSpc>
                <a:spcPct val="100000"/>
              </a:lnSpc>
              <a:spcAft>
                <a:spcPts val="45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[2] N. Bhat, R. Sharma, A. Kaushik, and T. Jain, "MERN stack unveiled: A research study on the technology's architecture and benefits," Tuijin Jishu/J. Propulsion Technol., vol. 44, no. 1, 2023.</a:t>
            </a:r>
          </a:p>
          <a:p>
            <a:pPr>
              <a:lnSpc>
                <a:spcPct val="100000"/>
              </a:lnSpc>
              <a:spcAft>
                <a:spcPts val="45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[3] S. Meduri, "Revolutionizing customer service: The impact of large language models on chatbot performance," Int. J. Sci. Res. CSEIT, vol. 10, no. 5, pp. 721-730, 2024.</a:t>
            </a:r>
          </a:p>
          <a:p>
            <a:pPr>
              <a:lnSpc>
                <a:spcPct val="100000"/>
              </a:lnSpc>
              <a:spcAft>
                <a:spcPts val="45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[4] L. Aldhafeeri et al., "Generative AI chatbots across domains: A systematic review," Appl. Sci. (MDPI), vol. 15, no. 20, 2025.</a:t>
            </a:r>
          </a:p>
          <a:p>
            <a:pPr>
              <a:lnSpc>
                <a:spcPct val="100000"/>
              </a:lnSpc>
              <a:spcAft>
                <a:spcPts val="45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[5] X. Bowen, S. Jia, J. Lin, F. Zheng, et al., "JWTKey: Automatic cryptographic vulnerability detection in JWT applications," in Computer Security -- ESORICS 2023, Springer LNCS, 2023.</a:t>
            </a:r>
          </a:p>
          <a:p>
            <a:pPr>
              <a:lnSpc>
                <a:spcPct val="100000"/>
              </a:lnSpc>
              <a:spcAft>
                <a:spcPts val="45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[6] B. Rexha et al., "Enhancing JWT authentication and authorization in web applications based on user behavior history," Information (MDPI), vol. 12, no. 4, 2023.</a:t>
            </a:r>
          </a:p>
          <a:p>
            <a:pPr>
              <a:lnSpc>
                <a:spcPct val="100000"/>
              </a:lnSpc>
              <a:spcAft>
                <a:spcPts val="45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[7] OWASP Foundation, "OWASP API Security Top 10," 2023.</a:t>
            </a:r>
          </a:p>
          <a:p>
            <a:pPr>
              <a:lnSpc>
                <a:spcPct val="100000"/>
              </a:lnSpc>
              <a:spcAft>
                <a:spcPts val="45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[8] J. Urnikiene, V. Steponaviciene, and S. Atanasov, "Comparative read performance analysis of PostgreSQL and MongoDB in e-commerce," Big Data Cogn. Comput. (MDPI), vol. 10, no. 2, 2026.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0" name="Google Shape;200;g3f2362af273_0_24"/>
          <p:cNvSpPr txBox="1"/>
          <p:nvPr/>
        </p:nvSpPr>
        <p:spPr>
          <a:xfrm>
            <a:off x="95300" y="62400"/>
            <a:ext cx="23091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Working Modules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1" name="Rounded Rectangle 200"/>
          <p:cNvSpPr/>
          <p:nvPr/>
        </p:nvSpPr>
        <p:spPr>
          <a:xfrm>
            <a:off x="182880" y="566928"/>
            <a:ext cx="1737360" cy="658368"/>
          </a:xfrm>
          <a:prstGeom prst="roundRect">
            <a:avLst/>
          </a:prstGeom>
          <a:solidFill>
            <a:srgbClr val="EFEFFB"/>
          </a:solidFill>
          <a:ln w="15875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60" b="1" i="0">
                <a:solidFill>
                  <a:srgbClr val="1A1A1A"/>
                </a:solidFill>
                <a:latin typeface="Georgia"/>
              </a:rPr>
              <a:t>User Module
(Search, Booking)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2011680" y="566928"/>
            <a:ext cx="1737360" cy="658368"/>
          </a:xfrm>
          <a:prstGeom prst="roundRect">
            <a:avLst/>
          </a:prstGeom>
          <a:solidFill>
            <a:srgbClr val="EFEFFB"/>
          </a:solidFill>
          <a:ln w="15875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60" b="1" i="0">
                <a:solidFill>
                  <a:srgbClr val="1A1A1A"/>
                </a:solidFill>
                <a:latin typeface="Georgia"/>
              </a:rPr>
              <a:t>Authentication Module
(JWT, RBAC)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3840480" y="566928"/>
            <a:ext cx="1737360" cy="658368"/>
          </a:xfrm>
          <a:prstGeom prst="roundRect">
            <a:avLst/>
          </a:prstGeom>
          <a:solidFill>
            <a:srgbClr val="EFEFFB"/>
          </a:solidFill>
          <a:ln w="15875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60" b="1" i="0">
                <a:solidFill>
                  <a:srgbClr val="1A1A1A"/>
                </a:solidFill>
                <a:latin typeface="Georgia"/>
              </a:rPr>
              <a:t>Voice Assistant Module
(Gemini + Speech API)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182880" y="1408176"/>
            <a:ext cx="1737360" cy="658368"/>
          </a:xfrm>
          <a:prstGeom prst="roundRect">
            <a:avLst/>
          </a:prstGeom>
          <a:solidFill>
            <a:srgbClr val="EFEFFB"/>
          </a:solidFill>
          <a:ln w="15875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60" b="1" i="0">
                <a:solidFill>
                  <a:srgbClr val="1A1A1A"/>
                </a:solidFill>
                <a:latin typeface="Georgia"/>
              </a:rPr>
              <a:t>Booking &amp; Payment
Module (Razorpay)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2011680" y="1408176"/>
            <a:ext cx="1737360" cy="658368"/>
          </a:xfrm>
          <a:prstGeom prst="roundRect">
            <a:avLst/>
          </a:prstGeom>
          <a:solidFill>
            <a:srgbClr val="EFEFFB"/>
          </a:solidFill>
          <a:ln w="15875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60" b="1" i="0">
                <a:solidFill>
                  <a:srgbClr val="1A1A1A"/>
                </a:solidFill>
                <a:latin typeface="Georgia"/>
              </a:rPr>
              <a:t>Admin Module
(Approvals, CRUD)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3840480" y="1408176"/>
            <a:ext cx="1737360" cy="658368"/>
          </a:xfrm>
          <a:prstGeom prst="roundRect">
            <a:avLst/>
          </a:prstGeom>
          <a:solidFill>
            <a:srgbClr val="EFEFFB"/>
          </a:solidFill>
          <a:ln w="15875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60" b="1" i="0">
                <a:solidFill>
                  <a:srgbClr val="1A1A1A"/>
                </a:solidFill>
                <a:latin typeface="Georgia"/>
              </a:rPr>
              <a:t>Database Module
(MongoDB / Mongoose)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182880" y="2249424"/>
            <a:ext cx="1737360" cy="658368"/>
          </a:xfrm>
          <a:prstGeom prst="roundRect">
            <a:avLst/>
          </a:prstGeom>
          <a:solidFill>
            <a:srgbClr val="EFEFFB"/>
          </a:solidFill>
          <a:ln w="15875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60" b="1" i="0">
                <a:solidFill>
                  <a:srgbClr val="1A1A1A"/>
                </a:solidFill>
                <a:latin typeface="Georgia"/>
              </a:rPr>
              <a:t>Reporting Module
(Power BI API)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0" name="Google Shape;210;p7"/>
          <p:cNvSpPr txBox="1"/>
          <p:nvPr/>
        </p:nvSpPr>
        <p:spPr>
          <a:xfrm>
            <a:off x="95300" y="62400"/>
            <a:ext cx="34812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Requirements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211" name="Google Shape;211;p7"/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212" name="Google Shape;212;p7"/>
            <p:cNvSpPr/>
            <p:nvPr/>
          </p:nvSpPr>
          <p:spPr>
            <a:xfrm>
              <a:off x="5069715" y="23243"/>
              <a:ext cx="576580" cy="576580"/>
            </a:xfrm>
            <a:custGeom>
              <a:rect b="b" l="l" r="r" t="t"/>
              <a:pathLst>
                <a:path extrusionOk="0" h="576580" w="576579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3" name="Google Shape;213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4" name="Google Shape;214;p7"/>
          <p:cNvSpPr/>
          <p:nvPr/>
        </p:nvSpPr>
        <p:spPr>
          <a:xfrm>
            <a:off x="72333" y="605009"/>
            <a:ext cx="5586730" cy="196850"/>
          </a:xfrm>
          <a:custGeom>
            <a:rect b="b" l="l" r="r" t="t"/>
            <a:pathLst>
              <a:path extrusionOk="0" h="196850" w="5586730">
                <a:moveTo>
                  <a:pt x="553555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6737"/>
                </a:lnTo>
                <a:lnTo>
                  <a:pt x="5586351" y="196737"/>
                </a:lnTo>
                <a:lnTo>
                  <a:pt x="5586351" y="50800"/>
                </a:lnTo>
                <a:lnTo>
                  <a:pt x="5582343" y="31075"/>
                </a:lnTo>
                <a:lnTo>
                  <a:pt x="5571428" y="14922"/>
                </a:lnTo>
                <a:lnTo>
                  <a:pt x="5555275" y="4008"/>
                </a:lnTo>
                <a:lnTo>
                  <a:pt x="5535550" y="0"/>
                </a:lnTo>
                <a:close/>
              </a:path>
            </a:pathLst>
          </a:custGeom>
          <a:solidFill>
            <a:srgbClr val="2626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Hardware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 txBox="1"/>
          <p:nvPr/>
        </p:nvSpPr>
        <p:spPr>
          <a:xfrm>
            <a:off x="137655" y="1028457"/>
            <a:ext cx="2926080" cy="216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00"/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Hardware</a:t>
            </a:r>
            <a:endParaRPr b="0" i="0" sz="12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86854" y="1853005"/>
            <a:ext cx="5586730" cy="186690"/>
          </a:xfrm>
          <a:custGeom>
            <a:rect b="b" l="l" r="r" t="t"/>
            <a:pathLst>
              <a:path extrusionOk="0" h="186689" w="5586730">
                <a:moveTo>
                  <a:pt x="553555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194"/>
                </a:lnTo>
                <a:lnTo>
                  <a:pt x="5586351" y="186194"/>
                </a:lnTo>
                <a:lnTo>
                  <a:pt x="5586351" y="50800"/>
                </a:lnTo>
                <a:lnTo>
                  <a:pt x="5582343" y="31075"/>
                </a:lnTo>
                <a:lnTo>
                  <a:pt x="5571428" y="14922"/>
                </a:lnTo>
                <a:lnTo>
                  <a:pt x="5555275" y="4008"/>
                </a:lnTo>
                <a:lnTo>
                  <a:pt x="5535550" y="0"/>
                </a:lnTo>
                <a:close/>
              </a:path>
            </a:pathLst>
          </a:custGeom>
          <a:solidFill>
            <a:srgbClr val="2626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144175" y="1822275"/>
            <a:ext cx="292608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00"/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Software</a:t>
            </a:r>
            <a:endParaRPr b="0" i="0" sz="12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8" name="Google Shape;218;p7"/>
          <p:cNvSpPr txBox="1"/>
          <p:nvPr/>
        </p:nvSpPr>
        <p:spPr>
          <a:xfrm>
            <a:off x="65549" y="2073262"/>
            <a:ext cx="55866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1600">
            <a:spAutoFit/>
          </a:bodyPr>
          <a:lstStyle/>
          <a:p>
            <a:pPr indent="-175895" lvl="0" marL="275590" marR="0" rtl="0" algn="l">
              <a:lnSpc>
                <a:spcPct val="100000"/>
              </a:lnSpc>
              <a:spcBef>
                <a:spcPts val="1115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Arial"/>
              <a:buAutoNum type="arabicPeriod"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9" name="Google Shape;219;p7"/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220" name="Google Shape;220;p7"/>
            <p:cNvSpPr/>
            <p:nvPr/>
          </p:nvSpPr>
          <p:spPr>
            <a:xfrm>
              <a:off x="0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7"/>
            <p:cNvSpPr/>
            <p:nvPr/>
          </p:nvSpPr>
          <p:spPr>
            <a:xfrm>
              <a:off x="1919973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7"/>
            <p:cNvSpPr/>
            <p:nvPr/>
          </p:nvSpPr>
          <p:spPr>
            <a:xfrm>
              <a:off x="3839946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3" name="Google Shape;223;p7"/>
          <p:cNvSpPr txBox="1"/>
          <p:nvPr>
            <p:ph idx="11" type="ftr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Batch No</a:t>
            </a:r>
            <a:endParaRPr/>
          </a:p>
        </p:txBody>
      </p:sp>
      <p:sp xmlns:ahyp="http://schemas.microsoft.com/office/drawing/2018/hyperlinkcolor">
        <p:nvSpPr>
          <p:cNvPr id="224" name="Google Shape;224;p7"/>
          <p:cNvSpPr txBox="1"/>
          <p:nvPr/>
        </p:nvSpPr>
        <p:spPr>
          <a:xfrm>
            <a:off x="2411158" y="3107609"/>
            <a:ext cx="937894" cy="136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sng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  <a:hlinkClick action="ppaction://hlinksldjump"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Department of CSE</a:t>
            </a:r>
            <a:endParaRPr b="0" i="0" sz="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5" name="Google Shape;225;p7"/>
          <p:cNvSpPr txBox="1"/>
          <p:nvPr>
            <p:ph idx="10" type="dt"/>
          </p:nvPr>
        </p:nvSpPr>
        <p:spPr>
          <a:xfrm>
            <a:off x="4315459" y="3109203"/>
            <a:ext cx="798829" cy="114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November 21, 2025</a:t>
            </a:r>
            <a:endParaRPr/>
          </a:p>
        </p:txBody>
      </p:sp>
      <p:sp>
        <p:nvSpPr>
          <p:cNvPr id="226" name="Google Shape;226;p7"/>
          <p:cNvSpPr txBox="1"/>
          <p:nvPr>
            <p:ph idx="12" type="sldNum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137160" y="86868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30" b="0" i="0">
                <a:solidFill>
                  <a:srgbClr val="1A1A1A"/>
                </a:solidFill>
                <a:latin typeface="Arial"/>
              </a:rPr>
              <a:t>● Processor: Dual-core 2 GHz+  |  RAM: 4 GB minimum (8 GB recommended)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30" b="0" i="0">
                <a:solidFill>
                  <a:srgbClr val="1A1A1A"/>
                </a:solidFill>
                <a:latin typeface="Arial"/>
              </a:rPr>
              <a:t>● Storage: 500 MB free disk space  |  Stable broadband Internet connection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37160" y="2103120"/>
            <a:ext cx="5486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30" b="0" i="0">
                <a:solidFill>
                  <a:srgbClr val="1A1A1A"/>
                </a:solidFill>
                <a:latin typeface="Arial"/>
              </a:rPr>
              <a:t>● OS: Windows / macOS / Linux  |  Node.js 18 LTS  |  React.js 18.2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30" b="0" i="0">
                <a:solidFill>
                  <a:srgbClr val="1A1A1A"/>
                </a:solidFill>
                <a:latin typeface="Arial"/>
              </a:rPr>
              <a:t>● MongoDB Atlas (cloud) | VS Code IDE | Razorpay, Google Gemini, Cloudinary &amp; Mailjet APIs | Power BI Desktop/Service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0" name="Google Shape;260;g3f2362af273_0_51"/>
          <p:cNvSpPr txBox="1"/>
          <p:nvPr>
            <p:ph type="title"/>
          </p:nvPr>
        </p:nvSpPr>
        <p:spPr>
          <a:xfrm>
            <a:off x="95300" y="62400"/>
            <a:ext cx="3399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Future Scope</a:t>
            </a:r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137160" y="7772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5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● AI improvements: migrate context-assembly grounding to full retrieval-augmented generation (RAG) via MongoDB vector search.</a:t>
            </a:r>
          </a:p>
          <a:p>
            <a:pPr>
              <a:lnSpc>
                <a:spcPct val="105000"/>
              </a:lnSpc>
              <a:spcAft>
                <a:spcPts val="55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● Native mobile application (React Native) with push notifications and camera-based evidence capture.</a:t>
            </a:r>
          </a:p>
          <a:p>
            <a:pPr>
              <a:lnSpc>
                <a:spcPct val="105000"/>
              </a:lnSpc>
              <a:spcAft>
                <a:spcPts val="55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● Full UI localization &amp; right-to-left layout for Arabic-speaking users, extending today's voice-level multilingual support.</a:t>
            </a:r>
          </a:p>
          <a:p>
            <a:pPr>
              <a:lnSpc>
                <a:spcPct val="105000"/>
              </a:lnSpc>
              <a:spcAft>
                <a:spcPts val="55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● Predictive analytics: forecast rental pricing, vacancy &amp; late-payment risk from accumulated booking/payment history.</a:t>
            </a:r>
          </a:p>
          <a:p>
            <a:pPr>
              <a:lnSpc>
                <a:spcPct val="105000"/>
              </a:lnSpc>
              <a:spcAft>
                <a:spcPts val="55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● Fault-tolerant analytics aggregation with independently-executed, gracefully-degrading queries.</a:t>
            </a:r>
          </a:p>
          <a:p>
            <a:pPr>
              <a:lnSpc>
                <a:spcPct val="105000"/>
              </a:lnSpc>
              <a:spcAft>
                <a:spcPts val="55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● IoT integration: smart locks &amp; meters for keyless viewing access and automated utility readings.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6" name="Google Shape;266;p9"/>
          <p:cNvSpPr txBox="1"/>
          <p:nvPr>
            <p:ph type="title"/>
          </p:nvPr>
        </p:nvSpPr>
        <p:spPr>
          <a:xfrm>
            <a:off x="95300" y="62405"/>
            <a:ext cx="1850389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References (contd.)</a:t>
            </a:r>
            <a:endParaRPr/>
          </a:p>
        </p:txBody>
      </p:sp>
      <p:grpSp>
        <p:nvGrpSpPr>
          <p:cNvPr id="267" name="Google Shape;267;p9"/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268" name="Google Shape;268;p9"/>
            <p:cNvSpPr/>
            <p:nvPr/>
          </p:nvSpPr>
          <p:spPr>
            <a:xfrm>
              <a:off x="5069715" y="23243"/>
              <a:ext cx="576580" cy="576580"/>
            </a:xfrm>
            <a:custGeom>
              <a:rect b="b" l="l" r="r" t="t"/>
              <a:pathLst>
                <a:path extrusionOk="0" h="576580" w="576579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9" name="Google Shape;269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1" name="Google Shape;271;p9"/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272" name="Google Shape;272;p9"/>
            <p:cNvSpPr/>
            <p:nvPr/>
          </p:nvSpPr>
          <p:spPr>
            <a:xfrm>
              <a:off x="0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9"/>
            <p:cNvSpPr/>
            <p:nvPr/>
          </p:nvSpPr>
          <p:spPr>
            <a:xfrm>
              <a:off x="1919973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9"/>
            <p:cNvSpPr/>
            <p:nvPr/>
          </p:nvSpPr>
          <p:spPr>
            <a:xfrm>
              <a:off x="3839946" y="3133775"/>
              <a:ext cx="1920239" cy="106680"/>
            </a:xfrm>
            <a:custGeom>
              <a:rect b="b" l="l" r="r" t="t"/>
              <a:pathLst>
                <a:path extrusionOk="0" h="106680" w="1920239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5" name="Google Shape;275;p9"/>
          <p:cNvSpPr txBox="1"/>
          <p:nvPr>
            <p:ph idx="11" type="ftr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Batch No</a:t>
            </a:r>
            <a:endParaRPr/>
          </a:p>
        </p:txBody>
      </p:sp>
      <p:sp xmlns:ahyp="http://schemas.microsoft.com/office/drawing/2018/hyperlinkcolor">
        <p:nvSpPr>
          <p:cNvPr id="276" name="Google Shape;276;p9"/>
          <p:cNvSpPr txBox="1"/>
          <p:nvPr/>
        </p:nvSpPr>
        <p:spPr>
          <a:xfrm>
            <a:off x="2411158" y="3107609"/>
            <a:ext cx="937894" cy="136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sng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  <a:hlinkClick action="ppaction://hlinksldjump"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Department of CSE</a:t>
            </a:r>
            <a:endParaRPr b="0" i="0" sz="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7" name="Google Shape;277;p9"/>
          <p:cNvSpPr txBox="1"/>
          <p:nvPr>
            <p:ph idx="10" type="dt"/>
          </p:nvPr>
        </p:nvSpPr>
        <p:spPr>
          <a:xfrm>
            <a:off x="4315459" y="3109203"/>
            <a:ext cx="798829" cy="114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November 21, 2025</a:t>
            </a:r>
            <a:endParaRPr/>
          </a:p>
        </p:txBody>
      </p:sp>
      <p:sp>
        <p:nvSpPr>
          <p:cNvPr id="278" name="Google Shape;278;p9"/>
          <p:cNvSpPr txBox="1"/>
          <p:nvPr>
            <p:ph idx="12" type="sldNum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137160" y="502920"/>
            <a:ext cx="5486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690" b="0" i="0">
                <a:solidFill>
                  <a:srgbClr val="1A1A1A"/>
                </a:solidFill>
                <a:latin typeface="Arial"/>
              </a:rPr>
              <a:t>[9] A. O. Adediran, A. M. Aini, and S. M. Ajibade, "Adoption of artificial intelligence in property management transactions," Property Manage., vol. 44, no. 2, 2025.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690" b="0" i="0">
                <a:solidFill>
                  <a:srgbClr val="1A1A1A"/>
                </a:solidFill>
                <a:latin typeface="Arial"/>
              </a:rPr>
              <a:t>[10] J. Swacha and M. Gracel, "Retrieval-augmented generation (RAG) chatbots for education: A survey of applications," Appl. Sci. (MDPI), vol. 15, no. 8, 2025.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690" b="0" i="0">
                <a:solidFill>
                  <a:srgbClr val="1A1A1A"/>
                </a:solidFill>
                <a:latin typeface="Arial"/>
              </a:rPr>
              <a:t>[11] Deepak and S. Sheoran, "Vector search in large language models: Experimental evaluation with MongoDB Atlas," J. Cybersecurity Inf. Manage., vol. 17, no. 2, 2026.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690" b="0" i="0">
                <a:solidFill>
                  <a:srgbClr val="1A1A1A"/>
                </a:solidFill>
                <a:latin typeface="Arial"/>
              </a:rPr>
              <a:t>[12] G. Kumar, D. Kumar, and R. Yadav, "Performance optimization in MERN stack applications," Int. J. Res. Publication Rev., vol. 6, no. 5, 2025.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690" b="0" i="0">
                <a:solidFill>
                  <a:srgbClr val="1A1A1A"/>
                </a:solidFill>
                <a:latin typeface="Arial"/>
              </a:rPr>
              <a:t>[13] S. Sabharwal and R. Sahni, "Tackling the problem of multilingualism in voice assistants," Int. J. Electr. Electron. Comput., vol. 9, no. 5, 2024.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690" b="0" i="0">
                <a:solidFill>
                  <a:srgbClr val="1A1A1A"/>
                </a:solidFill>
                <a:latin typeface="Arial"/>
              </a:rPr>
              <a:t>[14] K. Pinniboyina, "Multi-language voice assistant system using Web Speech API," Int. J. Sci. Eng. Technol., vol. 13, no. 4, 2024.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690" b="0" i="0">
                <a:solidFill>
                  <a:srgbClr val="1A1A1A"/>
                </a:solidFill>
                <a:latin typeface="Arial"/>
              </a:rPr>
              <a:t>[15] A. Khamaj, "AI-enhanced chatbot for improving healthcare usability and accessibility for older adults," Ain Shams Eng. J., vol. 116,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2025-11-19T14:26:28Z</dcterms:created>
  <dc:creator>Author 1, Author 2, Author 3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2025-11-19T00:00:00Z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2025-11-19T00:00:00Z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