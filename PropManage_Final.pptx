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76" r:id="rId16"/>
    <p:sldId id="269" r:id="rId17"/>
    <p:sldId id="270" r:id="rId18"/>
    <p:sldId id="272" r:id="rId19"/>
    <p:sldId id="273" r:id="rId20"/>
    <p:sldId id="277" r:id="rId21"/>
    <p:sldId id="274" r:id="rId22"/>
    <p:sldId id="278" r:id="rId23"/>
  </p:sldIdLst>
  <p:sldSz cx="5765800" cy="3244850"/>
  <p:notesSz cx="5765800" cy="32448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gKYwkWtpa+tUZBpjC+eo46yTq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B9942AF-D573-48A4-88CD-0C3B0F94A23A}">
  <a:tblStyle styleId="{7B9942AF-D573-48A4-88CD-0C3B0F94A23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0" d="100"/>
          <a:sy n="160" d="100"/>
        </p:scale>
        <p:origin x="922" y="10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800">
                <a:latin typeface="Georgia"/>
              </a:rPr>
              <a:t>Endpoint Latency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Mean latency (ms)</c:v>
                </c:pt>
              </c:strCache>
            </c:strRef>
          </c:tx>
          <c:spPr>
            <a:solidFill>
              <a:srgbClr val="3333B2"/>
            </a:soli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Login</c:v>
                </c:pt>
                <c:pt idx="1">
                  <c:v>Properties</c:v>
                </c:pt>
                <c:pt idx="2">
                  <c:v>Bookings</c:v>
                </c:pt>
                <c:pt idx="3">
                  <c:v>Payments</c:v>
                </c:pt>
                <c:pt idx="4">
                  <c:v>Dashboard</c:v>
                </c:pt>
                <c:pt idx="5">
                  <c:v>AI Chat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312</c:v>
                </c:pt>
                <c:pt idx="1">
                  <c:v>241</c:v>
                </c:pt>
                <c:pt idx="2">
                  <c:v>288</c:v>
                </c:pt>
                <c:pt idx="3">
                  <c:v>847</c:v>
                </c:pt>
                <c:pt idx="4">
                  <c:v>574</c:v>
                </c:pt>
                <c:pt idx="5">
                  <c:v>2080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269-4447-862A-E24EFF5D37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2362af27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2362af273_0_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2362af273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2362af273_0_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362af27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2362af273_0_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2362af27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2362af273_0_12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2362af273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2362af273_0_16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2362af27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2362af273_0_2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2362af273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2362af273_0_24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2362af27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2362af273_0_2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1150" y="243350"/>
            <a:ext cx="3844050" cy="1216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0" name="Google Shape;2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2362af273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2362af273_0_4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2362af273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2362af273_0_51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4" name="Google Shape;2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01813" y="242888"/>
            <a:ext cx="216217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1371739" y="1098497"/>
            <a:ext cx="3016885" cy="112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ftr" idx="11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dt" idx="10"/>
          </p:nvPr>
        </p:nvSpPr>
        <p:spPr>
          <a:xfrm>
            <a:off x="4315459" y="3109203"/>
            <a:ext cx="79882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3810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3810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3810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3810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3810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810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810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3810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ftr" idx="11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dt" idx="10"/>
          </p:nvPr>
        </p:nvSpPr>
        <p:spPr>
          <a:xfrm>
            <a:off x="4315459" y="3109203"/>
            <a:ext cx="79882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3810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3810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3810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3810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3810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810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810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3810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>
            <a:spLocks noGrp="1"/>
          </p:cNvSpPr>
          <p:nvPr>
            <p:ph type="ftr" idx="11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dt" idx="10"/>
          </p:nvPr>
        </p:nvSpPr>
        <p:spPr>
          <a:xfrm>
            <a:off x="4315459" y="3109203"/>
            <a:ext cx="79882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sldNum" idx="12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3810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3810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3810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3810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3810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810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810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3810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4"/>
          <p:cNvSpPr txBox="1"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ubTitle" idx="1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ftr" idx="11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4315459" y="3109203"/>
            <a:ext cx="79882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ldNum" idx="12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3810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3810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3810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3810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3810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810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810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3810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body" idx="1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body" idx="2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dt" idx="10"/>
          </p:nvPr>
        </p:nvSpPr>
        <p:spPr>
          <a:xfrm>
            <a:off x="4315459" y="3109203"/>
            <a:ext cx="79882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sldNum" idx="12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3810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3810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3810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3810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3810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810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810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3810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/>
          <p:nvPr/>
        </p:nvSpPr>
        <p:spPr>
          <a:xfrm>
            <a:off x="4191217" y="3049002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 extrusionOk="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w="9525" cap="flat" cmpd="sng">
            <a:solidFill>
              <a:srgbClr val="ADAD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0"/>
          <p:cNvSpPr/>
          <p:nvPr/>
        </p:nvSpPr>
        <p:spPr>
          <a:xfrm>
            <a:off x="4111599" y="304504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0"/>
          <p:cNvSpPr/>
          <p:nvPr/>
        </p:nvSpPr>
        <p:spPr>
          <a:xfrm>
            <a:off x="4289402" y="304504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0"/>
          <p:cNvSpPr/>
          <p:nvPr/>
        </p:nvSpPr>
        <p:spPr>
          <a:xfrm>
            <a:off x="4451717" y="3038690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 extrusionOk="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 extrusionOk="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 extrusionOk="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w="9525" cap="flat" cmpd="sng">
            <a:solidFill>
              <a:srgbClr val="ADAD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0"/>
          <p:cNvSpPr/>
          <p:nvPr/>
        </p:nvSpPr>
        <p:spPr>
          <a:xfrm>
            <a:off x="4388548" y="3045040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0"/>
          <p:cNvSpPr/>
          <p:nvPr/>
        </p:nvSpPr>
        <p:spPr>
          <a:xfrm>
            <a:off x="4754398" y="3051390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120000" extrusionOk="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 cap="flat" cmpd="sng">
            <a:solidFill>
              <a:srgbClr val="ADAD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0"/>
          <p:cNvSpPr/>
          <p:nvPr/>
        </p:nvSpPr>
        <p:spPr>
          <a:xfrm>
            <a:off x="4665497" y="3045040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0"/>
          <p:cNvSpPr/>
          <p:nvPr/>
        </p:nvSpPr>
        <p:spPr>
          <a:xfrm>
            <a:off x="4741698" y="303869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 extrusionOk="0">
                <a:moveTo>
                  <a:pt x="0" y="0"/>
                </a:moveTo>
                <a:lnTo>
                  <a:pt x="38100" y="0"/>
                </a:lnTo>
              </a:path>
              <a:path w="50800" h="50800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extrusionOk="0">
                <a:moveTo>
                  <a:pt x="0" y="38100"/>
                </a:moveTo>
                <a:lnTo>
                  <a:pt x="38100" y="38100"/>
                </a:lnTo>
              </a:path>
              <a:path w="50800" h="50800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9525" cap="flat" cmpd="sng">
            <a:solidFill>
              <a:srgbClr val="D6D6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0"/>
          <p:cNvSpPr/>
          <p:nvPr/>
        </p:nvSpPr>
        <p:spPr>
          <a:xfrm>
            <a:off x="5018647" y="3038690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 extrusionOk="0">
                <a:moveTo>
                  <a:pt x="0" y="0"/>
                </a:moveTo>
                <a:lnTo>
                  <a:pt x="38100" y="0"/>
                </a:lnTo>
              </a:path>
              <a:path w="50800" h="25400" extrusionOk="0">
                <a:moveTo>
                  <a:pt x="12700" y="12700"/>
                </a:moveTo>
                <a:lnTo>
                  <a:pt x="50800" y="12700"/>
                </a:lnTo>
              </a:path>
              <a:path w="50800" h="25400" extrusionOk="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w="9525" cap="flat" cmpd="sng">
            <a:solidFill>
              <a:srgbClr val="ADAD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0"/>
          <p:cNvSpPr/>
          <p:nvPr/>
        </p:nvSpPr>
        <p:spPr>
          <a:xfrm>
            <a:off x="4942446" y="3045040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0"/>
          <p:cNvSpPr/>
          <p:nvPr/>
        </p:nvSpPr>
        <p:spPr>
          <a:xfrm>
            <a:off x="5018647" y="3076790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 extrusionOk="0">
                <a:moveTo>
                  <a:pt x="0" y="0"/>
                </a:moveTo>
                <a:lnTo>
                  <a:pt x="38100" y="0"/>
                </a:lnTo>
              </a:path>
              <a:path w="50800" h="12700" extrusionOk="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noFill/>
          <a:ln w="9525" cap="flat" cmpd="sng">
            <a:solidFill>
              <a:srgbClr val="D6D6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0"/>
          <p:cNvSpPr/>
          <p:nvPr/>
        </p:nvSpPr>
        <p:spPr>
          <a:xfrm>
            <a:off x="5295596" y="303869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 extrusionOk="0">
                <a:moveTo>
                  <a:pt x="0" y="0"/>
                </a:moveTo>
                <a:lnTo>
                  <a:pt x="38100" y="0"/>
                </a:lnTo>
              </a:path>
              <a:path w="50800" h="50800" extrusionOk="0">
                <a:moveTo>
                  <a:pt x="12700" y="12700"/>
                </a:moveTo>
                <a:lnTo>
                  <a:pt x="50800" y="12700"/>
                </a:lnTo>
              </a:path>
              <a:path w="50800" h="50800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extrusionOk="0">
                <a:moveTo>
                  <a:pt x="0" y="38100"/>
                </a:moveTo>
                <a:lnTo>
                  <a:pt x="38100" y="38100"/>
                </a:lnTo>
              </a:path>
              <a:path w="50800" h="50800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9525" cap="flat" cmpd="sng">
            <a:solidFill>
              <a:srgbClr val="ADAD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0"/>
          <p:cNvSpPr/>
          <p:nvPr/>
        </p:nvSpPr>
        <p:spPr>
          <a:xfrm>
            <a:off x="5603025" y="3069170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 extrusionOk="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w="9525" cap="flat" cmpd="sng">
            <a:solidFill>
              <a:srgbClr val="ADAD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0"/>
          <p:cNvSpPr/>
          <p:nvPr/>
        </p:nvSpPr>
        <p:spPr>
          <a:xfrm>
            <a:off x="5575961" y="3042675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 extrusionOk="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w="9525" cap="flat" cmpd="sng">
            <a:solidFill>
              <a:srgbClr val="ADAD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0"/>
          <p:cNvSpPr/>
          <p:nvPr/>
        </p:nvSpPr>
        <p:spPr>
          <a:xfrm>
            <a:off x="5481104" y="3038690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 extrusionOk="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 extrusionOk="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 extrusionOk="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 extrusionOk="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w="9525" cap="flat" cmpd="sng">
            <a:solidFill>
              <a:srgbClr val="ADAD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0"/>
          <p:cNvSpPr/>
          <p:nvPr/>
        </p:nvSpPr>
        <p:spPr>
          <a:xfrm>
            <a:off x="0" y="0"/>
            <a:ext cx="5760085" cy="355600"/>
          </a:xfrm>
          <a:custGeom>
            <a:avLst/>
            <a:gdLst/>
            <a:ahLst/>
            <a:cxnLst/>
            <a:rect l="l" t="t" r="r" b="b"/>
            <a:pathLst>
              <a:path w="5760085" h="355600" extrusionOk="0">
                <a:moveTo>
                  <a:pt x="5759996" y="0"/>
                </a:moveTo>
                <a:lnTo>
                  <a:pt x="0" y="0"/>
                </a:lnTo>
                <a:lnTo>
                  <a:pt x="0" y="355180"/>
                </a:lnTo>
                <a:lnTo>
                  <a:pt x="5759996" y="355180"/>
                </a:lnTo>
                <a:lnTo>
                  <a:pt x="5759996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1371739" y="1098497"/>
            <a:ext cx="3016885" cy="1123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ftr" idx="11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dt" idx="10"/>
          </p:nvPr>
        </p:nvSpPr>
        <p:spPr>
          <a:xfrm>
            <a:off x="4315459" y="3109203"/>
            <a:ext cx="79882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381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381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381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381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381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81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81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381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9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slide" Target="slid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"/>
          <p:cNvGrpSpPr/>
          <p:nvPr/>
        </p:nvGrpSpPr>
        <p:grpSpPr>
          <a:xfrm>
            <a:off x="38684" y="113650"/>
            <a:ext cx="5637531" cy="492523"/>
            <a:chOff x="86854" y="444334"/>
            <a:chExt cx="5637531" cy="492523"/>
          </a:xfrm>
        </p:grpSpPr>
        <p:sp>
          <p:nvSpPr>
            <p:cNvPr id="60" name="Google Shape;60;p1"/>
            <p:cNvSpPr/>
            <p:nvPr/>
          </p:nvSpPr>
          <p:spPr>
            <a:xfrm>
              <a:off x="86854" y="444334"/>
              <a:ext cx="5586730" cy="82550"/>
            </a:xfrm>
            <a:custGeom>
              <a:avLst/>
              <a:gdLst/>
              <a:ahLst/>
              <a:cxnLst/>
              <a:rect l="l" t="t" r="r" b="b"/>
              <a:pathLst>
                <a:path w="5586730" h="82550" extrusionOk="0">
                  <a:moveTo>
                    <a:pt x="5535550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5586351" y="82384"/>
                  </a:lnTo>
                  <a:lnTo>
                    <a:pt x="5586351" y="50800"/>
                  </a:lnTo>
                  <a:lnTo>
                    <a:pt x="5582343" y="31075"/>
                  </a:lnTo>
                  <a:lnTo>
                    <a:pt x="5571428" y="14922"/>
                  </a:lnTo>
                  <a:lnTo>
                    <a:pt x="5555275" y="4008"/>
                  </a:lnTo>
                  <a:lnTo>
                    <a:pt x="5535550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137655" y="507598"/>
              <a:ext cx="5586730" cy="429259"/>
            </a:xfrm>
            <a:custGeom>
              <a:avLst/>
              <a:gdLst/>
              <a:ahLst/>
              <a:cxnLst/>
              <a:rect l="l" t="t" r="r" b="b"/>
              <a:pathLst>
                <a:path w="5586730" h="429259" extrusionOk="0">
                  <a:moveTo>
                    <a:pt x="5586351" y="0"/>
                  </a:moveTo>
                  <a:lnTo>
                    <a:pt x="0" y="0"/>
                  </a:lnTo>
                  <a:lnTo>
                    <a:pt x="0" y="428710"/>
                  </a:lnTo>
                  <a:lnTo>
                    <a:pt x="5586351" y="428710"/>
                  </a:lnTo>
                  <a:lnTo>
                    <a:pt x="55863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86854" y="488761"/>
              <a:ext cx="5586730" cy="396875"/>
            </a:xfrm>
            <a:custGeom>
              <a:avLst/>
              <a:gdLst/>
              <a:ahLst/>
              <a:cxnLst/>
              <a:rect l="l" t="t" r="r" b="b"/>
              <a:pathLst>
                <a:path w="5586730" h="396875" extrusionOk="0">
                  <a:moveTo>
                    <a:pt x="5586351" y="0"/>
                  </a:moveTo>
                  <a:lnTo>
                    <a:pt x="0" y="0"/>
                  </a:lnTo>
                  <a:lnTo>
                    <a:pt x="0" y="345945"/>
                  </a:lnTo>
                  <a:lnTo>
                    <a:pt x="4008" y="365670"/>
                  </a:lnTo>
                  <a:lnTo>
                    <a:pt x="14922" y="381823"/>
                  </a:lnTo>
                  <a:lnTo>
                    <a:pt x="31075" y="392737"/>
                  </a:lnTo>
                  <a:lnTo>
                    <a:pt x="50800" y="396746"/>
                  </a:lnTo>
                  <a:lnTo>
                    <a:pt x="5535550" y="396746"/>
                  </a:lnTo>
                  <a:lnTo>
                    <a:pt x="5555275" y="392737"/>
                  </a:lnTo>
                  <a:lnTo>
                    <a:pt x="5571428" y="381823"/>
                  </a:lnTo>
                  <a:lnTo>
                    <a:pt x="5582343" y="365670"/>
                  </a:lnTo>
                  <a:lnTo>
                    <a:pt x="5586351" y="345945"/>
                  </a:lnTo>
                  <a:lnTo>
                    <a:pt x="5586351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" name="Google Shape;63;p1"/>
          <p:cNvSpPr txBox="1">
            <a:spLocks noGrp="1"/>
          </p:cNvSpPr>
          <p:nvPr>
            <p:ph type="title"/>
          </p:nvPr>
        </p:nvSpPr>
        <p:spPr>
          <a:xfrm>
            <a:off x="179070" y="145165"/>
            <a:ext cx="5586730" cy="269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Property Management Application using Power BI</a:t>
            </a:r>
            <a:endParaRPr dirty="0"/>
          </a:p>
        </p:txBody>
      </p:sp>
      <p:sp>
        <p:nvSpPr>
          <p:cNvPr id="64" name="Google Shape;64;p1"/>
          <p:cNvSpPr txBox="1"/>
          <p:nvPr/>
        </p:nvSpPr>
        <p:spPr>
          <a:xfrm>
            <a:off x="2447925" y="2388473"/>
            <a:ext cx="1079904" cy="180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dirty="0">
                <a:latin typeface="Times New Roman"/>
                <a:ea typeface="Times New Roman"/>
                <a:cs typeface="Times New Roman"/>
                <a:sym typeface="Times New Roman"/>
              </a:rPr>
              <a:t>27-07-2026</a:t>
            </a:r>
            <a:endParaRPr sz="11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4090493" y="3180536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 extrusionOk="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w="9525" cap="flat" cmpd="sng">
            <a:solidFill>
              <a:srgbClr val="ADAD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4010876" y="317657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4188678" y="317657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1"/>
          <p:cNvGrpSpPr/>
          <p:nvPr/>
        </p:nvGrpSpPr>
        <p:grpSpPr>
          <a:xfrm>
            <a:off x="4310113" y="3170224"/>
            <a:ext cx="203200" cy="50800"/>
            <a:chOff x="4310113" y="3170224"/>
            <a:chExt cx="203200" cy="50800"/>
          </a:xfrm>
        </p:grpSpPr>
        <p:sp>
          <p:nvSpPr>
            <p:cNvPr id="69" name="Google Shape;69;p1"/>
            <p:cNvSpPr/>
            <p:nvPr/>
          </p:nvSpPr>
          <p:spPr>
            <a:xfrm>
              <a:off x="4373282" y="3170224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 extrusionOk="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 extrusionOk="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 extrusionOk="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noFill/>
            <a:ln w="9525" cap="flat" cmpd="sng">
              <a:solidFill>
                <a:srgbClr val="ADAD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4310113" y="317657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 extrusionOk="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 extrusionOk="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" name="Google Shape;71;p1"/>
          <p:cNvGrpSpPr/>
          <p:nvPr/>
        </p:nvGrpSpPr>
        <p:grpSpPr>
          <a:xfrm>
            <a:off x="4609350" y="3170224"/>
            <a:ext cx="203200" cy="50800"/>
            <a:chOff x="4609350" y="3170224"/>
            <a:chExt cx="203200" cy="50800"/>
          </a:xfrm>
        </p:grpSpPr>
        <p:sp>
          <p:nvSpPr>
            <p:cNvPr id="72" name="Google Shape;72;p1"/>
            <p:cNvSpPr/>
            <p:nvPr/>
          </p:nvSpPr>
          <p:spPr>
            <a:xfrm>
              <a:off x="4698251" y="3182924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120000" extrusionOk="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noFill/>
            <a:ln w="9525" cap="flat" cmpd="sng">
              <a:solidFill>
                <a:srgbClr val="ADAD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4609350" y="317657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 extrusionOk="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 extrusionOk="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4685551" y="3170224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 extrusionOk="0">
                  <a:moveTo>
                    <a:pt x="0" y="0"/>
                  </a:moveTo>
                  <a:lnTo>
                    <a:pt x="38100" y="0"/>
                  </a:lnTo>
                </a:path>
                <a:path w="50800" h="50800" extrusionOk="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 extrusionOk="0">
                  <a:moveTo>
                    <a:pt x="0" y="38100"/>
                  </a:moveTo>
                  <a:lnTo>
                    <a:pt x="38100" y="38100"/>
                  </a:lnTo>
                </a:path>
                <a:path w="50800" h="50800" extrusionOk="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noFill/>
            <a:ln w="9525" cap="flat" cmpd="sng">
              <a:solidFill>
                <a:srgbClr val="D6D6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" name="Google Shape;75;p1"/>
          <p:cNvGrpSpPr/>
          <p:nvPr/>
        </p:nvGrpSpPr>
        <p:grpSpPr>
          <a:xfrm>
            <a:off x="4908575" y="3170224"/>
            <a:ext cx="203200" cy="50800"/>
            <a:chOff x="4908575" y="3170224"/>
            <a:chExt cx="203200" cy="50800"/>
          </a:xfrm>
        </p:grpSpPr>
        <p:sp>
          <p:nvSpPr>
            <p:cNvPr id="76" name="Google Shape;76;p1"/>
            <p:cNvSpPr/>
            <p:nvPr/>
          </p:nvSpPr>
          <p:spPr>
            <a:xfrm>
              <a:off x="4984776" y="3170224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 extrusionOk="0">
                  <a:moveTo>
                    <a:pt x="0" y="0"/>
                  </a:moveTo>
                  <a:lnTo>
                    <a:pt x="38100" y="0"/>
                  </a:lnTo>
                </a:path>
                <a:path w="50800" h="25400" extrusionOk="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 extrusionOk="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noFill/>
            <a:ln w="9525" cap="flat" cmpd="sng">
              <a:solidFill>
                <a:srgbClr val="ADAD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4908575" y="3176574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 extrusionOk="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 extrusionOk="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4984776" y="3208324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 extrusionOk="0">
                  <a:moveTo>
                    <a:pt x="0" y="0"/>
                  </a:moveTo>
                  <a:lnTo>
                    <a:pt x="38100" y="0"/>
                  </a:lnTo>
                </a:path>
                <a:path w="50800" h="12700" extrusionOk="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noFill/>
            <a:ln w="9525" cap="flat" cmpd="sng">
              <a:solidFill>
                <a:srgbClr val="D6D6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1"/>
          <p:cNvSpPr/>
          <p:nvPr/>
        </p:nvSpPr>
        <p:spPr>
          <a:xfrm>
            <a:off x="5284013" y="317022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 extrusionOk="0">
                <a:moveTo>
                  <a:pt x="0" y="0"/>
                </a:moveTo>
                <a:lnTo>
                  <a:pt x="38100" y="0"/>
                </a:lnTo>
              </a:path>
              <a:path w="50800" h="50800" extrusionOk="0">
                <a:moveTo>
                  <a:pt x="12700" y="12700"/>
                </a:moveTo>
                <a:lnTo>
                  <a:pt x="50800" y="12700"/>
                </a:lnTo>
              </a:path>
              <a:path w="50800" h="50800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extrusionOk="0">
                <a:moveTo>
                  <a:pt x="0" y="38100"/>
                </a:moveTo>
                <a:lnTo>
                  <a:pt x="38100" y="38100"/>
                </a:lnTo>
              </a:path>
              <a:path w="50800" h="50800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9525" cap="flat" cmpd="sng">
            <a:solidFill>
              <a:srgbClr val="ADAD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1"/>
          <p:cNvGrpSpPr/>
          <p:nvPr/>
        </p:nvGrpSpPr>
        <p:grpSpPr>
          <a:xfrm>
            <a:off x="5491797" y="3170224"/>
            <a:ext cx="233679" cy="50800"/>
            <a:chOff x="5491797" y="3170224"/>
            <a:chExt cx="233679" cy="50800"/>
          </a:xfrm>
        </p:grpSpPr>
        <p:sp>
          <p:nvSpPr>
            <p:cNvPr id="81" name="Google Shape;81;p1"/>
            <p:cNvSpPr/>
            <p:nvPr/>
          </p:nvSpPr>
          <p:spPr>
            <a:xfrm>
              <a:off x="5613718" y="320070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 extrusionOk="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noFill/>
            <a:ln w="9525" cap="flat" cmpd="sng">
              <a:solidFill>
                <a:srgbClr val="ADAD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5586654" y="3174209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80" extrusionOk="0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noFill/>
            <a:ln w="9525" cap="flat" cmpd="sng">
              <a:solidFill>
                <a:srgbClr val="ADAD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5491797" y="3170224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 extrusionOk="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 extrusionOk="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 extrusionOk="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 extrusionOk="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noFill/>
            <a:ln w="9525" cap="flat" cmpd="sng">
              <a:solidFill>
                <a:srgbClr val="ADAD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1"/>
          <p:cNvSpPr txBox="1"/>
          <p:nvPr/>
        </p:nvSpPr>
        <p:spPr>
          <a:xfrm>
            <a:off x="2025650" y="846417"/>
            <a:ext cx="1524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Duppati Ashritha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dirty="0">
                <a:latin typeface="Times New Roman"/>
                <a:cs typeface="Times New Roman"/>
                <a:sym typeface="Times New Roman"/>
              </a:rPr>
              <a:t>24WH1DB008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033917" y="1249740"/>
            <a:ext cx="3403500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sng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Under the Guidance of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IN" sz="800" b="1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Mr. Ch. Anil Kumar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Assistant Professor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Department of Information Technology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BVRIT Hyderabad College of Engineering for Women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IN" sz="800" b="1" i="0" dirty="0">
                <a:solidFill>
                  <a:srgbClr val="1A1A1A"/>
                </a:solidFill>
                <a:latin typeface="Georgia"/>
              </a:rPr>
              <a:t>                                         </a:t>
            </a:r>
            <a:r>
              <a:rPr sz="800" b="1" i="0" dirty="0">
                <a:solidFill>
                  <a:srgbClr val="1A1A1A"/>
                </a:solidFill>
                <a:latin typeface="Georgia"/>
              </a:rPr>
              <a:t>Academic Year: </a:t>
            </a:r>
            <a:r>
              <a:rPr lang="en-IN" sz="800" b="1" i="0" dirty="0">
                <a:solidFill>
                  <a:srgbClr val="1A1A1A"/>
                </a:solidFill>
                <a:latin typeface="Georgia"/>
              </a:rPr>
              <a:t>2026</a:t>
            </a:r>
            <a:endParaRPr sz="800" b="1" i="0" dirty="0">
              <a:solidFill>
                <a:srgbClr val="1A1A1A"/>
              </a:solidFill>
              <a:latin typeface="Georgia"/>
            </a:endParaRPr>
          </a:p>
        </p:txBody>
      </p:sp>
      <p:grpSp>
        <p:nvGrpSpPr>
          <p:cNvPr id="86" name="Google Shape;86;p1"/>
          <p:cNvGrpSpPr/>
          <p:nvPr/>
        </p:nvGrpSpPr>
        <p:grpSpPr>
          <a:xfrm>
            <a:off x="4995723" y="202550"/>
            <a:ext cx="576579" cy="576580"/>
            <a:chOff x="5069715" y="23243"/>
            <a:chExt cx="576579" cy="576580"/>
          </a:xfrm>
        </p:grpSpPr>
        <p:sp>
          <p:nvSpPr>
            <p:cNvPr id="87" name="Google Shape;87;p1"/>
            <p:cNvSpPr/>
            <p:nvPr/>
          </p:nvSpPr>
          <p:spPr>
            <a:xfrm>
              <a:off x="5069715" y="23243"/>
              <a:ext cx="576579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8" name="Google Shape;88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Table of Content</a:t>
            </a: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95" name="Google Shape;95;p2"/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" name="Google Shape;96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2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108" name="Google Shape;108;p2"/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2"/>
          <p:cNvSpPr txBox="1">
            <a:spLocks noGrp="1"/>
          </p:cNvSpPr>
          <p:nvPr>
            <p:ph type="ftr" idx="11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4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1" i="0" u="sng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Department of CSE</a:t>
            </a:r>
            <a:endParaRPr sz="6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3" name="Google Shape;113;p2"/>
          <p:cNvSpPr txBox="1">
            <a:spLocks noGrp="1"/>
          </p:cNvSpPr>
          <p:nvPr>
            <p:ph type="dt" idx="10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July 27, 2025</a:t>
            </a:r>
            <a:endParaRPr dirty="0"/>
          </a:p>
        </p:txBody>
      </p:sp>
      <p:sp>
        <p:nvSpPr>
          <p:cNvPr id="114" name="Google Shape;114;p2"/>
          <p:cNvSpPr txBox="1">
            <a:spLocks noGrp="1"/>
          </p:cNvSpPr>
          <p:nvPr>
            <p:ph type="sldNum" idx="12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2</a:t>
            </a:fld>
            <a:r>
              <a:rPr lang="en-US"/>
              <a:t> / 9</a:t>
            </a:r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64592" y="777240"/>
            <a:ext cx="2697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1.  Abstract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2.  Introduction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3.  Literature Review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4.  Literature / Research Gap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5.  Problem Statement &amp; Objectives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6.  Existing System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7.  Proposed System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8.  System Architecture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9.  Algorithms Description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926080" y="777240"/>
            <a:ext cx="2697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10.  Working Modules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11.  Requirements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12.  Technology Stack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13.  Experimental Results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14.  Execution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15.  Result Analysis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16.  Conclusion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17.  Future Scope</a:t>
            </a:r>
          </a:p>
          <a:p>
            <a:pPr>
              <a:lnSpc>
                <a:spcPct val="135000"/>
              </a:lnSpc>
              <a:spcAft>
                <a:spcPts val="300"/>
              </a:spcAft>
            </a:pPr>
            <a:r>
              <a:rPr sz="950" b="0" i="0">
                <a:solidFill>
                  <a:srgbClr val="1A1A1A"/>
                </a:solidFill>
                <a:latin typeface="Times New Roman"/>
              </a:rPr>
              <a:t>18.  References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>
            <a:spLocks noGrp="1"/>
          </p:cNvSpPr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Abstract</a:t>
            </a:r>
            <a:endParaRPr/>
          </a:p>
        </p:txBody>
      </p:sp>
      <p:grpSp>
        <p:nvGrpSpPr>
          <p:cNvPr id="120" name="Google Shape;120;p3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121" name="Google Shape;121;p3"/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2" name="Google Shape;122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" name="Google Shape;123;p3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124" name="Google Shape;124;p3"/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3"/>
          <p:cNvSpPr txBox="1">
            <a:spLocks noGrp="1"/>
          </p:cNvSpPr>
          <p:nvPr>
            <p:ph type="ftr" idx="11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4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1" i="0" u="sng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Department of CSE</a:t>
            </a:r>
            <a:endParaRPr sz="6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3"/>
          <p:cNvSpPr txBox="1">
            <a:spLocks noGrp="1"/>
          </p:cNvSpPr>
          <p:nvPr>
            <p:ph type="dt" idx="10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July 27, 2025</a:t>
            </a:r>
            <a:endParaRPr dirty="0"/>
          </a:p>
        </p:txBody>
      </p:sp>
      <p:sp>
        <p:nvSpPr>
          <p:cNvPr id="130" name="Google Shape;130;p3"/>
          <p:cNvSpPr txBox="1">
            <a:spLocks noGrp="1"/>
          </p:cNvSpPr>
          <p:nvPr>
            <p:ph type="sldNum" idx="12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3</a:t>
            </a:fld>
            <a:r>
              <a:rPr lang="en-US"/>
              <a:t> / 9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292100" y="778804"/>
            <a:ext cx="523656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indent="0" algn="just" rtl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860" b="0" i="0">
                <a:solidFill>
                  <a:srgbClr val="1A1A1A"/>
                </a:solidFill>
                <a:latin typeface="Arial"/>
              </a:rPr>
              <a:t>● Overview: PropManage is a dual-portal MERN-stack (MongoDB, Express.js, React.js, Node.js) platform unifying property cataloguing, booking, payments, contracts, and maintenance in one system.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60" b="0" i="0">
                <a:solidFill>
                  <a:srgbClr val="1A1A1A"/>
                </a:solidFill>
                <a:latin typeface="Arial"/>
              </a:rPr>
              <a:t>● Problem addressed: small/mid-size property operators rely on fragmented manual workflows -- spreadsheets, calls, paper records.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60" b="0" i="0">
                <a:solidFill>
                  <a:srgbClr val="1A1A1A"/>
                </a:solidFill>
                <a:latin typeface="Arial"/>
              </a:rPr>
              <a:t>● Proposed solution: role-segmented client-user &amp; client-admin portals, real-time WebSocket alerts, HMAC-verified payments, a multilingual voice-enabled AI assistant, and a Power BI analytics layer.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60" b="0" i="0">
                <a:solidFill>
                  <a:srgbClr val="1A1A1A"/>
                </a:solidFill>
                <a:latin typeface="Arial"/>
              </a:rPr>
              <a:t>● Technologies: React.js, Node.js/Express.js, MongoDB Atlas, Socket.IO, Razorpay, Google Gemini API, Web Speech API, Power BI.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860" b="0" i="0">
                <a:solidFill>
                  <a:srgbClr val="1A1A1A"/>
                </a:solidFill>
                <a:latin typeface="Arial"/>
              </a:rPr>
              <a:t>● Expected outcome: verified payments, sub-second notification, voice-accessible AI, and live BI dashboards -- validated by 38/38 functional and 14/14 security tests.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/>
        </p:nvSpPr>
        <p:spPr>
          <a:xfrm>
            <a:off x="95300" y="62400"/>
            <a:ext cx="14220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37" name="Google Shape;137;p5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138" name="Google Shape;138;p5"/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9" name="Google Shape;139;p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0" name="Google Shape;140;p5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141" name="Google Shape;141;p5"/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" name="Google Shape;144;p5"/>
          <p:cNvSpPr txBox="1">
            <a:spLocks noGrp="1"/>
          </p:cNvSpPr>
          <p:nvPr>
            <p:ph type="ftr" idx="11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Batch No</a:t>
            </a:r>
            <a:endParaRPr dirty="0"/>
          </a:p>
        </p:txBody>
      </p:sp>
      <p:sp>
        <p:nvSpPr>
          <p:cNvPr id="145" name="Google Shape;145;p5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4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1" i="0" u="sng" strike="noStrike" cap="none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Department of CSE</a:t>
            </a:r>
            <a:endParaRPr sz="600" b="0" i="0" u="none" strike="noStrike" cap="none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5"/>
          <p:cNvSpPr txBox="1">
            <a:spLocks noGrp="1"/>
          </p:cNvSpPr>
          <p:nvPr>
            <p:ph type="dt" idx="10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July 27, 2026</a:t>
            </a:r>
            <a:endParaRPr dirty="0"/>
          </a:p>
        </p:txBody>
      </p:sp>
      <p:sp>
        <p:nvSpPr>
          <p:cNvPr id="147" name="Google Shape;147;p5"/>
          <p:cNvSpPr txBox="1">
            <a:spLocks noGrp="1"/>
          </p:cNvSpPr>
          <p:nvPr>
            <p:ph type="sldNum" idx="12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4</a:t>
            </a:fld>
            <a:r>
              <a:rPr lang="en-US"/>
              <a:t> / 9</a:t>
            </a:r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37160" y="777240"/>
            <a:ext cx="5486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50" b="1" i="0" dirty="0">
                <a:solidFill>
                  <a:srgbClr val="1A1A1A"/>
                </a:solidFill>
                <a:latin typeface="Arial"/>
              </a:rPr>
              <a:t>● Background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 dirty="0">
                <a:solidFill>
                  <a:srgbClr val="1A1A1A"/>
                </a:solidFill>
                <a:latin typeface="Arial"/>
              </a:rPr>
              <a:t>   ● Property seekers &amp; small/mid-size operators still coordinate via phone calls, messaging apps, and paper records.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50" b="1" i="0" dirty="0">
                <a:solidFill>
                  <a:srgbClr val="1A1A1A"/>
                </a:solidFill>
                <a:latin typeface="Arial"/>
              </a:rPr>
              <a:t>● Motivation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 dirty="0">
                <a:solidFill>
                  <a:srgbClr val="1A1A1A"/>
                </a:solidFill>
                <a:latin typeface="Arial"/>
              </a:rPr>
              <a:t>   ● Banking, hospitality &amp; e-commerce have digitized; real estate management remains largely manual, causing double-booking, unverifiable payments and missed renewals.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50" b="1" i="0" dirty="0">
                <a:solidFill>
                  <a:srgbClr val="1A1A1A"/>
                </a:solidFill>
                <a:latin typeface="Arial"/>
              </a:rPr>
              <a:t>● Importance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 dirty="0">
                <a:solidFill>
                  <a:srgbClr val="1A1A1A"/>
                </a:solidFill>
                <a:latin typeface="Arial"/>
              </a:rPr>
              <a:t>   ● A unified, secure, AI- and voice-assisted platform reduces admin overhead and improves accessibility for non-English-speaking users.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50" b="1" i="0" dirty="0">
                <a:solidFill>
                  <a:srgbClr val="1A1A1A"/>
                </a:solidFill>
                <a:latin typeface="Arial"/>
              </a:rPr>
              <a:t>● Real-World Applications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 dirty="0">
                <a:solidFill>
                  <a:srgbClr val="1A1A1A"/>
                </a:solidFill>
                <a:latin typeface="Arial"/>
              </a:rPr>
              <a:t>   ● Rental &amp; sale management firms, individual property owners, brokers, and tenant/buyer self-service portals.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2362af273_0_0"/>
          <p:cNvSpPr txBox="1"/>
          <p:nvPr/>
        </p:nvSpPr>
        <p:spPr>
          <a:xfrm>
            <a:off x="95300" y="62400"/>
            <a:ext cx="1963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Problem Statement</a:t>
            </a:r>
            <a:endParaRPr sz="14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37160" y="777240"/>
            <a:ext cx="5486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● Small and mid-size property operators lack a single system covering the full lifecycle -- listing, visit scheduling, payment collection, contract management, and maintenance tracking.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50" b="0" i="0">
                <a:solidFill>
                  <a:srgbClr val="1A1A1A"/>
                </a:solidFill>
                <a:latin typeface="Arial"/>
              </a:rPr>
              <a:t>● Manual, spreadsheet- and messaging-based coordination causes: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Double-booked property visits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Payment records that cannot be independently verified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Delayed staff awareness of new bookings/payments (inbox polling)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No assistance for users outside staff working hours or fluent only in a regional language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No live, self-service business-intelligence view for owners/admins</a:t>
            </a:r>
          </a:p>
        </p:txBody>
      </p:sp>
      <p:grpSp>
        <p:nvGrpSpPr>
          <p:cNvPr id="2" name="Google Shape;168;p6">
            <a:extLst>
              <a:ext uri="{FF2B5EF4-FFF2-40B4-BE49-F238E27FC236}">
                <a16:creationId xmlns:a16="http://schemas.microsoft.com/office/drawing/2014/main" id="{DBD1B738-2DA2-4DA8-66BB-8ECDB46F3215}"/>
              </a:ext>
            </a:extLst>
          </p:cNvPr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3" name="Google Shape;169;p6">
              <a:extLst>
                <a:ext uri="{FF2B5EF4-FFF2-40B4-BE49-F238E27FC236}">
                  <a16:creationId xmlns:a16="http://schemas.microsoft.com/office/drawing/2014/main" id="{CC37B9D6-8F2A-AD00-33B5-5F9A082A2A3F}"/>
                </a:ext>
              </a:extLst>
            </p:cNvPr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" name="Google Shape;170;p6">
              <a:extLst>
                <a:ext uri="{FF2B5EF4-FFF2-40B4-BE49-F238E27FC236}">
                  <a16:creationId xmlns:a16="http://schemas.microsoft.com/office/drawing/2014/main" id="{46CCC5E5-D443-7F0C-5640-E1D16BC2FFB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oogle Shape;140;p5">
            <a:extLst>
              <a:ext uri="{FF2B5EF4-FFF2-40B4-BE49-F238E27FC236}">
                <a16:creationId xmlns:a16="http://schemas.microsoft.com/office/drawing/2014/main" id="{38A94530-F4CC-E569-DA33-4C808268B0D0}"/>
              </a:ext>
            </a:extLst>
          </p:cNvPr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6" name="Google Shape;141;p5">
              <a:extLst>
                <a:ext uri="{FF2B5EF4-FFF2-40B4-BE49-F238E27FC236}">
                  <a16:creationId xmlns:a16="http://schemas.microsoft.com/office/drawing/2014/main" id="{30263017-DAD7-D30B-F2BA-BFA65EE04035}"/>
                </a:ext>
              </a:extLst>
            </p:cNvPr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42;p5">
              <a:extLst>
                <a:ext uri="{FF2B5EF4-FFF2-40B4-BE49-F238E27FC236}">
                  <a16:creationId xmlns:a16="http://schemas.microsoft.com/office/drawing/2014/main" id="{F47B921E-AAA6-8A91-38B7-99C78C96853C}"/>
                </a:ext>
              </a:extLst>
            </p:cNvPr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43;p5">
              <a:extLst>
                <a:ext uri="{FF2B5EF4-FFF2-40B4-BE49-F238E27FC236}">
                  <a16:creationId xmlns:a16="http://schemas.microsoft.com/office/drawing/2014/main" id="{1BED61C6-BC3A-3EC3-E7AF-F7C4E2C23FFC}"/>
                </a:ext>
              </a:extLst>
            </p:cNvPr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2362af273_0_4"/>
          <p:cNvSpPr txBox="1"/>
          <p:nvPr/>
        </p:nvSpPr>
        <p:spPr>
          <a:xfrm>
            <a:off x="95300" y="62400"/>
            <a:ext cx="14220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Objectives</a:t>
            </a:r>
            <a:endParaRPr sz="14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37160" y="713232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0" i="0">
                <a:solidFill>
                  <a:srgbClr val="1A1A1A"/>
                </a:solidFill>
                <a:latin typeface="Arial"/>
              </a:rPr>
              <a:t>● Unify cataloguing, scheduling, payments, contracts &amp; maintenance in one role-segmented, dual-portal platform.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0" i="0">
                <a:solidFill>
                  <a:srgbClr val="1A1A1A"/>
                </a:solidFill>
                <a:latin typeface="Arial"/>
              </a:rPr>
              <a:t>● Deliver real-time (sub-second) operational alerts to admin staff via WebSocket, removing inbox-polling delay.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0" i="0">
                <a:solidFill>
                  <a:srgbClr val="1A1A1A"/>
                </a:solidFill>
                <a:latin typeface="Arial"/>
              </a:rPr>
              <a:t>● Cryptographically verify every high-value payment server-side (HMAC-SHA256) before committing any financial record.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0" i="0">
                <a:solidFill>
                  <a:srgbClr val="1A1A1A"/>
                </a:solidFill>
                <a:latin typeface="Arial"/>
              </a:rPr>
              <a:t>● Provide a context-grounded AI assistant with multilingual (English/Hindi/Telugu) voice input &amp; output.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0" i="0">
                <a:solidFill>
                  <a:srgbClr val="1A1A1A"/>
                </a:solidFill>
                <a:latin typeface="Arial"/>
              </a:rPr>
              <a:t>● Enforce role-based access control so a de-activated account loses access on its very next request.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0" i="0">
                <a:solidFill>
                  <a:srgbClr val="1A1A1A"/>
                </a:solidFill>
                <a:latin typeface="Arial"/>
              </a:rPr>
              <a:t>● Expose a secure, independently-authenticated Power BI analytics API for live business-intelligence dashboards.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80" b="0" i="0">
                <a:solidFill>
                  <a:srgbClr val="1A1A1A"/>
                </a:solidFill>
                <a:latin typeface="Arial"/>
              </a:rPr>
              <a:t>● Empirically evaluate functional correctness, security, and concurrent-load performance.</a:t>
            </a:r>
          </a:p>
        </p:txBody>
      </p:sp>
      <p:grpSp>
        <p:nvGrpSpPr>
          <p:cNvPr id="2" name="Google Shape;168;p6">
            <a:extLst>
              <a:ext uri="{FF2B5EF4-FFF2-40B4-BE49-F238E27FC236}">
                <a16:creationId xmlns:a16="http://schemas.microsoft.com/office/drawing/2014/main" id="{42927C5A-E4EA-4DA4-4940-E77BD53B5939}"/>
              </a:ext>
            </a:extLst>
          </p:cNvPr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3" name="Google Shape;169;p6">
              <a:extLst>
                <a:ext uri="{FF2B5EF4-FFF2-40B4-BE49-F238E27FC236}">
                  <a16:creationId xmlns:a16="http://schemas.microsoft.com/office/drawing/2014/main" id="{EA60448B-90A1-5404-74CB-50307C14758C}"/>
                </a:ext>
              </a:extLst>
            </p:cNvPr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" name="Google Shape;170;p6">
              <a:extLst>
                <a:ext uri="{FF2B5EF4-FFF2-40B4-BE49-F238E27FC236}">
                  <a16:creationId xmlns:a16="http://schemas.microsoft.com/office/drawing/2014/main" id="{47BD6779-D33E-85FF-5DE8-77115E55B9A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oogle Shape;140;p5">
            <a:extLst>
              <a:ext uri="{FF2B5EF4-FFF2-40B4-BE49-F238E27FC236}">
                <a16:creationId xmlns:a16="http://schemas.microsoft.com/office/drawing/2014/main" id="{79A48EA5-2FDD-7A73-61D4-D236FED9692B}"/>
              </a:ext>
            </a:extLst>
          </p:cNvPr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6" name="Google Shape;141;p5">
              <a:extLst>
                <a:ext uri="{FF2B5EF4-FFF2-40B4-BE49-F238E27FC236}">
                  <a16:creationId xmlns:a16="http://schemas.microsoft.com/office/drawing/2014/main" id="{68CE708A-9FB1-3B5F-C44E-A8231C891B39}"/>
                </a:ext>
              </a:extLst>
            </p:cNvPr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42;p5">
              <a:extLst>
                <a:ext uri="{FF2B5EF4-FFF2-40B4-BE49-F238E27FC236}">
                  <a16:creationId xmlns:a16="http://schemas.microsoft.com/office/drawing/2014/main" id="{C105845A-A920-A584-34F1-42A2E0E0151D}"/>
                </a:ext>
              </a:extLst>
            </p:cNvPr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43;p5">
              <a:extLst>
                <a:ext uri="{FF2B5EF4-FFF2-40B4-BE49-F238E27FC236}">
                  <a16:creationId xmlns:a16="http://schemas.microsoft.com/office/drawing/2014/main" id="{87C00893-A0C9-AB38-5F0A-9D41D4593FCA}"/>
                </a:ext>
              </a:extLst>
            </p:cNvPr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2362af273_0_8"/>
          <p:cNvSpPr txBox="1"/>
          <p:nvPr/>
        </p:nvSpPr>
        <p:spPr>
          <a:xfrm>
            <a:off x="95300" y="62400"/>
            <a:ext cx="14220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Scope of Work</a:t>
            </a:r>
            <a:endParaRPr sz="14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137160" y="777240"/>
            <a:ext cx="5486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● In scope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Property listing/search, visit &amp; purchase booking, UPI/Razorpay payments, rental &amp; purchase contracts, maintenance tickets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Real-time admin notifications, multilingual voice AI assistant, Power BI analytics endpoints, role-based security hardening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● Out of scope (this phase)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Native mobile app, full UI localization/RTL layout, IoT/smart-lock integration, predictive pricing analytics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950" b="1" i="0">
                <a:solidFill>
                  <a:srgbClr val="1A1A1A"/>
                </a:solidFill>
                <a:latin typeface="Arial"/>
              </a:rPr>
              <a:t>● Target users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850" b="0" i="0">
                <a:solidFill>
                  <a:srgbClr val="1A1A1A"/>
                </a:solidFill>
                <a:latin typeface="Arial"/>
              </a:rPr>
              <a:t>   ● Property seekers &amp; tenants, property owners, and platform administrators</a:t>
            </a:r>
          </a:p>
        </p:txBody>
      </p:sp>
      <p:grpSp>
        <p:nvGrpSpPr>
          <p:cNvPr id="2" name="Google Shape;168;p6">
            <a:extLst>
              <a:ext uri="{FF2B5EF4-FFF2-40B4-BE49-F238E27FC236}">
                <a16:creationId xmlns:a16="http://schemas.microsoft.com/office/drawing/2014/main" id="{A48D5193-C950-2635-C945-4A40F034F8C1}"/>
              </a:ext>
            </a:extLst>
          </p:cNvPr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3" name="Google Shape;169;p6">
              <a:extLst>
                <a:ext uri="{FF2B5EF4-FFF2-40B4-BE49-F238E27FC236}">
                  <a16:creationId xmlns:a16="http://schemas.microsoft.com/office/drawing/2014/main" id="{04F7C540-350B-05F1-4956-6E105E6E3DE2}"/>
                </a:ext>
              </a:extLst>
            </p:cNvPr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" name="Google Shape;170;p6">
              <a:extLst>
                <a:ext uri="{FF2B5EF4-FFF2-40B4-BE49-F238E27FC236}">
                  <a16:creationId xmlns:a16="http://schemas.microsoft.com/office/drawing/2014/main" id="{83B86E35-9000-881E-EC91-CECEBEF5D2A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oogle Shape;140;p5">
            <a:extLst>
              <a:ext uri="{FF2B5EF4-FFF2-40B4-BE49-F238E27FC236}">
                <a16:creationId xmlns:a16="http://schemas.microsoft.com/office/drawing/2014/main" id="{A8C9D8DC-BDC1-7B9E-B697-82B75E97C59B}"/>
              </a:ext>
            </a:extLst>
          </p:cNvPr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6" name="Google Shape;141;p5">
              <a:extLst>
                <a:ext uri="{FF2B5EF4-FFF2-40B4-BE49-F238E27FC236}">
                  <a16:creationId xmlns:a16="http://schemas.microsoft.com/office/drawing/2014/main" id="{425989A5-F1E1-2B89-2142-A0F1F8C360E0}"/>
                </a:ext>
              </a:extLst>
            </p:cNvPr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42;p5">
              <a:extLst>
                <a:ext uri="{FF2B5EF4-FFF2-40B4-BE49-F238E27FC236}">
                  <a16:creationId xmlns:a16="http://schemas.microsoft.com/office/drawing/2014/main" id="{CB92132F-38D0-4D23-63E3-DE118785AB38}"/>
                </a:ext>
              </a:extLst>
            </p:cNvPr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43;p5">
              <a:extLst>
                <a:ext uri="{FF2B5EF4-FFF2-40B4-BE49-F238E27FC236}">
                  <a16:creationId xmlns:a16="http://schemas.microsoft.com/office/drawing/2014/main" id="{8649B7E5-6D4C-1C23-B484-492E31126C10}"/>
                </a:ext>
              </a:extLst>
            </p:cNvPr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 txBox="1"/>
          <p:nvPr/>
        </p:nvSpPr>
        <p:spPr>
          <a:xfrm>
            <a:off x="95300" y="62400"/>
            <a:ext cx="21918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Literature Review</a:t>
            </a:r>
            <a:endParaRPr sz="14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68" name="Google Shape;168;p6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169" name="Google Shape;169;p6"/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0" name="Google Shape;170;p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3" name="Google Shape;173;p6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174" name="Google Shape;174;p6"/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6"/>
          <p:cNvSpPr txBox="1">
            <a:spLocks noGrp="1"/>
          </p:cNvSpPr>
          <p:nvPr>
            <p:ph type="ftr" idx="11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4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1" i="0" u="sng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Department of CSE</a:t>
            </a:r>
            <a:endParaRPr sz="6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9" name="Google Shape;179;p6"/>
          <p:cNvSpPr txBox="1">
            <a:spLocks noGrp="1"/>
          </p:cNvSpPr>
          <p:nvPr>
            <p:ph type="dt" idx="10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180" name="Google Shape;180;p6"/>
          <p:cNvSpPr txBox="1">
            <a:spLocks noGrp="1"/>
          </p:cNvSpPr>
          <p:nvPr>
            <p:ph type="sldNum" idx="12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8</a:t>
            </a:fld>
            <a:r>
              <a:rPr lang="en-US"/>
              <a:t> / 9</a:t>
            </a:r>
            <a:endParaRPr/>
          </a:p>
        </p:txBody>
      </p:sp>
      <p:graphicFrame>
        <p:nvGraphicFramePr>
          <p:cNvPr id="181" name="Table 180"/>
          <p:cNvGraphicFramePr>
            <a:graphicFrameLocks noGrp="1"/>
          </p:cNvGraphicFramePr>
          <p:nvPr/>
        </p:nvGraphicFramePr>
        <p:xfrm>
          <a:off x="45720" y="548640"/>
          <a:ext cx="565099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#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Paper (Authors, Year)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Journal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Method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Key Finding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Limitation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Digital transformation in real estate (Al-haimi et al., 2025)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Int. J. Inf. Mgmt. Data Insights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Systematic review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Operators still rely on manual, spreadsheet coordination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Review-level only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MERN stack unveiled (Bhat et al., 2023)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Tuijin Jishu / Prop. Technol.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Architectural analysis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Unified JSON pipeline cuts transformation code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Not tested at system scale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LLM chatbot impact (Meduri, 2024)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Int. J. Sci. Res. CSEIT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Cross-sector study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LLM bots improve query resolution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No live-data grounding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Multilingualism in voice assistants (Sabharwal &amp; Sahni, 2024)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Int. J. Electr. Electron. Comput.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Linguistic survey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Code-switching &amp; low-resource barriers identified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No working system built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JWTKey vulnerability detection (Bowen et al., 2023)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Computer Security -- ESORICS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Security audit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Crypto flaws in most audited JWT apps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Diagnostic tool only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32"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AI adoption in property mgmt. (Adediran et al., 2025)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Property Management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Trend analysis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Deployed AI-integrated systems rarely evaluated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20" b="0" i="0">
                          <a:solidFill>
                            <a:srgbClr val="1A1A1A"/>
                          </a:solidFill>
                          <a:latin typeface="Arial"/>
                        </a:rPr>
                        <a:t>Review-level only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2362af273_0_12"/>
          <p:cNvSpPr txBox="1"/>
          <p:nvPr/>
        </p:nvSpPr>
        <p:spPr>
          <a:xfrm>
            <a:off x="95300" y="62400"/>
            <a:ext cx="14220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Research Gaps</a:t>
            </a:r>
            <a:endParaRPr sz="14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137160" y="777240"/>
            <a:ext cx="5486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869" b="1" i="0">
                <a:solidFill>
                  <a:srgbClr val="1A1A1A"/>
                </a:solidFill>
                <a:latin typeface="Arial"/>
              </a:rPr>
              <a:t>● What existing research has achieved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69" b="0" i="0">
                <a:solidFill>
                  <a:srgbClr val="1A1A1A"/>
                </a:solidFill>
                <a:latin typeface="Arial"/>
              </a:rPr>
              <a:t>   ● Documents workflow fragmentation &amp; manual coordination in real estate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69" b="0" i="0">
                <a:solidFill>
                  <a:srgbClr val="1A1A1A"/>
                </a:solidFill>
                <a:latin typeface="Arial"/>
              </a:rPr>
              <a:t>   ● Demonstrates LLM chatbots improve query resolution; flags provider dependency and lack of live-data grounding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69" b="0" i="0">
                <a:solidFill>
                  <a:srgbClr val="1A1A1A"/>
                </a:solidFill>
                <a:latin typeface="Arial"/>
              </a:rPr>
              <a:t>   ● Audits JWT / API security in isolation, as diagnostic tools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869" b="1" i="0">
                <a:solidFill>
                  <a:srgbClr val="1A1A1A"/>
                </a:solidFill>
                <a:latin typeface="Arial"/>
              </a:rPr>
              <a:t>● Limitations / missing pieces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69" b="0" i="0">
                <a:solidFill>
                  <a:srgbClr val="1A1A1A"/>
                </a:solidFill>
                <a:latin typeface="Arial"/>
              </a:rPr>
              <a:t>   ● No study integrates verified payments, real-time notification &amp; conversational assistance in one deployed, tested system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69" b="0" i="0">
                <a:solidFill>
                  <a:srgbClr val="1A1A1A"/>
                </a:solidFill>
                <a:latin typeface="Arial"/>
              </a:rPr>
              <a:t>   ● No reviewed assistant is simultaneously domain-grounded, multilingual, AND voice-enabled at zero extra infrastructure cost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869" b="1" i="0">
                <a:solidFill>
                  <a:srgbClr val="1A1A1A"/>
                </a:solidFill>
                <a:latin typeface="Arial"/>
              </a:rPr>
              <a:t>● How PropManage fills these gaps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69" b="0" i="0">
                <a:solidFill>
                  <a:srgbClr val="1A1A1A"/>
                </a:solidFill>
                <a:latin typeface="Arial"/>
              </a:rPr>
              <a:t>   ● Combines HMAC-verified payments + WebSocket notification + multilingual voice AI + Power BI analytics in one empirically evaluated MERN platform</a:t>
            </a:r>
          </a:p>
        </p:txBody>
      </p:sp>
      <p:grpSp>
        <p:nvGrpSpPr>
          <p:cNvPr id="2" name="Google Shape;168;p6">
            <a:extLst>
              <a:ext uri="{FF2B5EF4-FFF2-40B4-BE49-F238E27FC236}">
                <a16:creationId xmlns:a16="http://schemas.microsoft.com/office/drawing/2014/main" id="{494B5C7F-3344-E0A9-742B-2D15D7DECF33}"/>
              </a:ext>
            </a:extLst>
          </p:cNvPr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3" name="Google Shape;169;p6">
              <a:extLst>
                <a:ext uri="{FF2B5EF4-FFF2-40B4-BE49-F238E27FC236}">
                  <a16:creationId xmlns:a16="http://schemas.microsoft.com/office/drawing/2014/main" id="{C73EC850-D903-A41F-3D3C-B1573885FD18}"/>
                </a:ext>
              </a:extLst>
            </p:cNvPr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" name="Google Shape;170;p6">
              <a:extLst>
                <a:ext uri="{FF2B5EF4-FFF2-40B4-BE49-F238E27FC236}">
                  <a16:creationId xmlns:a16="http://schemas.microsoft.com/office/drawing/2014/main" id="{614FBFAA-2F82-5BC4-B86A-E9708C034C8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oogle Shape;140;p5">
            <a:extLst>
              <a:ext uri="{FF2B5EF4-FFF2-40B4-BE49-F238E27FC236}">
                <a16:creationId xmlns:a16="http://schemas.microsoft.com/office/drawing/2014/main" id="{013EB92F-4AE5-4B31-1B34-271880B221B0}"/>
              </a:ext>
            </a:extLst>
          </p:cNvPr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6" name="Google Shape;141;p5">
              <a:extLst>
                <a:ext uri="{FF2B5EF4-FFF2-40B4-BE49-F238E27FC236}">
                  <a16:creationId xmlns:a16="http://schemas.microsoft.com/office/drawing/2014/main" id="{9EB58DEA-49BA-092C-018F-50F38E2A8652}"/>
                </a:ext>
              </a:extLst>
            </p:cNvPr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42;p5">
              <a:extLst>
                <a:ext uri="{FF2B5EF4-FFF2-40B4-BE49-F238E27FC236}">
                  <a16:creationId xmlns:a16="http://schemas.microsoft.com/office/drawing/2014/main" id="{FD5EA0A0-FCAB-62F0-0F9B-3DA7054C4590}"/>
                </a:ext>
              </a:extLst>
            </p:cNvPr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43;p5">
              <a:extLst>
                <a:ext uri="{FF2B5EF4-FFF2-40B4-BE49-F238E27FC236}">
                  <a16:creationId xmlns:a16="http://schemas.microsoft.com/office/drawing/2014/main" id="{942B3A1E-CBC7-B47E-D74B-24512B27B78D}"/>
                </a:ext>
              </a:extLst>
            </p:cNvPr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2362af273_0_16"/>
          <p:cNvSpPr txBox="1"/>
          <p:nvPr/>
        </p:nvSpPr>
        <p:spPr>
          <a:xfrm>
            <a:off x="95300" y="62400"/>
            <a:ext cx="34713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Existing Systems</a:t>
            </a:r>
            <a:endParaRPr sz="14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137160" y="777240"/>
            <a:ext cx="5486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880" b="1" i="0">
                <a:solidFill>
                  <a:srgbClr val="1A1A1A"/>
                </a:solidFill>
                <a:latin typeface="Arial"/>
              </a:rPr>
              <a:t>● Current approaches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80" b="0" i="0">
                <a:solidFill>
                  <a:srgbClr val="1A1A1A"/>
                </a:solidFill>
                <a:latin typeface="Arial"/>
              </a:rPr>
              <a:t>   ● Manual coordination: phone calls, spreadsheets, messaging apps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80" b="0" i="0">
                <a:solidFill>
                  <a:srgbClr val="1A1A1A"/>
                </a:solidFill>
                <a:latin typeface="Arial"/>
              </a:rPr>
              <a:t>   ● Listing portals (e.g. Bayut.com, Dubizzle): browsing only, no booking/payment/contract workflow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80" b="0" i="0">
                <a:solidFill>
                  <a:srgbClr val="1A1A1A"/>
                </a:solidFill>
                <a:latin typeface="Arial"/>
              </a:rPr>
              <a:t>   ● Commercial suites (e.g. Buildium, AppFolio): cover more lifecycle steps but at enterprise cost, with no verified real-time payments or AI/voice assistance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880" b="1" i="0">
                <a:solidFill>
                  <a:srgbClr val="1A1A1A"/>
                </a:solidFill>
                <a:latin typeface="Arial"/>
              </a:rPr>
              <a:t>● Disadvantages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80" b="0" i="0">
                <a:solidFill>
                  <a:srgbClr val="1A1A1A"/>
                </a:solidFill>
                <a:latin typeface="Arial"/>
              </a:rPr>
              <a:t>   ● Manual, time-consuming coordination; double-booked visits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80" b="0" i="0">
                <a:solidFill>
                  <a:srgbClr val="1A1A1A"/>
                </a:solidFill>
                <a:latin typeface="Arial"/>
              </a:rPr>
              <a:t>   ● Payment records that cannot be independently/cryptographically verified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80" b="0" i="0">
                <a:solidFill>
                  <a:srgbClr val="1A1A1A"/>
                </a:solidFill>
                <a:latin typeface="Arial"/>
              </a:rPr>
              <a:t>   ● No real-time staff notification -- delayed response to bookings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80" b="0" i="0">
                <a:solidFill>
                  <a:srgbClr val="1A1A1A"/>
                </a:solidFill>
                <a:latin typeface="Arial"/>
              </a:rPr>
              <a:t>   ● No conversational or voice-based assistance; no regional-language support</a:t>
            </a:r>
          </a:p>
          <a:p>
            <a:pPr>
              <a:lnSpc>
                <a:spcPct val="105000"/>
              </a:lnSpc>
              <a:spcAft>
                <a:spcPts val="350"/>
              </a:spcAft>
            </a:pPr>
            <a:r>
              <a:rPr sz="780" b="0" i="0">
                <a:solidFill>
                  <a:srgbClr val="1A1A1A"/>
                </a:solidFill>
                <a:latin typeface="Arial"/>
              </a:rPr>
              <a:t>   ● High cost and poor scalability for small/mid-size operators</a:t>
            </a:r>
          </a:p>
        </p:txBody>
      </p:sp>
      <p:grpSp>
        <p:nvGrpSpPr>
          <p:cNvPr id="2" name="Google Shape;168;p6">
            <a:extLst>
              <a:ext uri="{FF2B5EF4-FFF2-40B4-BE49-F238E27FC236}">
                <a16:creationId xmlns:a16="http://schemas.microsoft.com/office/drawing/2014/main" id="{B8EB185D-3FC1-B62D-8B45-98A0C7BC192B}"/>
              </a:ext>
            </a:extLst>
          </p:cNvPr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3" name="Google Shape;169;p6">
              <a:extLst>
                <a:ext uri="{FF2B5EF4-FFF2-40B4-BE49-F238E27FC236}">
                  <a16:creationId xmlns:a16="http://schemas.microsoft.com/office/drawing/2014/main" id="{0A40E24C-4697-06A6-D7DC-4F30731B10BF}"/>
                </a:ext>
              </a:extLst>
            </p:cNvPr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" name="Google Shape;170;p6">
              <a:extLst>
                <a:ext uri="{FF2B5EF4-FFF2-40B4-BE49-F238E27FC236}">
                  <a16:creationId xmlns:a16="http://schemas.microsoft.com/office/drawing/2014/main" id="{9A93C66E-20A8-6C02-E057-9C5B812CC3B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oogle Shape;140;p5">
            <a:extLst>
              <a:ext uri="{FF2B5EF4-FFF2-40B4-BE49-F238E27FC236}">
                <a16:creationId xmlns:a16="http://schemas.microsoft.com/office/drawing/2014/main" id="{191FC395-F517-831D-19AF-A3E641F058C0}"/>
              </a:ext>
            </a:extLst>
          </p:cNvPr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6" name="Google Shape;141;p5">
              <a:extLst>
                <a:ext uri="{FF2B5EF4-FFF2-40B4-BE49-F238E27FC236}">
                  <a16:creationId xmlns:a16="http://schemas.microsoft.com/office/drawing/2014/main" id="{4FCBA384-B245-FFAA-E8C5-89702F333840}"/>
                </a:ext>
              </a:extLst>
            </p:cNvPr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42;p5">
              <a:extLst>
                <a:ext uri="{FF2B5EF4-FFF2-40B4-BE49-F238E27FC236}">
                  <a16:creationId xmlns:a16="http://schemas.microsoft.com/office/drawing/2014/main" id="{3994E884-6496-B945-CF94-5F2A32A2CC46}"/>
                </a:ext>
              </a:extLst>
            </p:cNvPr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43;p5">
              <a:extLst>
                <a:ext uri="{FF2B5EF4-FFF2-40B4-BE49-F238E27FC236}">
                  <a16:creationId xmlns:a16="http://schemas.microsoft.com/office/drawing/2014/main" id="{B41B0E60-57C3-E13A-9564-0CB5091CADC6}"/>
                </a:ext>
              </a:extLst>
            </p:cNvPr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2362af273_0_20"/>
          <p:cNvSpPr txBox="1"/>
          <p:nvPr/>
        </p:nvSpPr>
        <p:spPr>
          <a:xfrm>
            <a:off x="95300" y="62400"/>
            <a:ext cx="2518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Proposed System</a:t>
            </a:r>
            <a:endParaRPr sz="14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137160" y="777240"/>
            <a:ext cx="5486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● New workflow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50" b="0" i="0">
                <a:solidFill>
                  <a:srgbClr val="1A1A1A"/>
                </a:solidFill>
                <a:latin typeface="Arial"/>
              </a:rPr>
              <a:t>   ● Single role-segmented, dual-portal MERN platform covering the full lifecycle end to end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● New features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50" b="0" i="0">
                <a:solidFill>
                  <a:srgbClr val="1A1A1A"/>
                </a:solidFill>
                <a:latin typeface="Arial"/>
              </a:rPr>
              <a:t>   ● Real-time WebSocket staff notification; HMAC-SHA256 verified payments; multilingual (English/Hindi/Telugu) voice AI assistant; Power BI analytics API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● Advantages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50" b="0" i="0">
                <a:solidFill>
                  <a:srgbClr val="1A1A1A"/>
                </a:solidFill>
                <a:latin typeface="Arial"/>
              </a:rPr>
              <a:t>   ● Faster: sub-second notifications, no polling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50" b="0" i="0">
                <a:solidFill>
                  <a:srgbClr val="1A1A1A"/>
                </a:solidFill>
                <a:latin typeface="Arial"/>
              </a:rPr>
              <a:t>   ● More secure: cryptographic payment verification, per-request RBAC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50" b="0" i="0">
                <a:solidFill>
                  <a:srgbClr val="1A1A1A"/>
                </a:solidFill>
                <a:latin typeface="Arial"/>
              </a:rPr>
              <a:t>   ● User-friendly &amp; accessible: voice input/output, multilingual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50" b="0" i="0">
                <a:solidFill>
                  <a:srgbClr val="1A1A1A"/>
                </a:solidFill>
                <a:latin typeface="Arial"/>
              </a:rPr>
              <a:t>   ● Scalable &amp; intelligent: BI-ready analytics, context-grounded AI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50" b="1" i="0">
                <a:solidFill>
                  <a:srgbClr val="1A1A1A"/>
                </a:solidFill>
                <a:latin typeface="Arial"/>
              </a:rPr>
              <a:t>● Novelty / Extension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50" b="0" i="0">
                <a:solidFill>
                  <a:srgbClr val="1A1A1A"/>
                </a:solidFill>
                <a:latin typeface="Arial"/>
              </a:rPr>
              <a:t>   ● Browser-native, zero-cost multilingual voice assistant integrated with a live-data-grounded chatbot -- not found together in any reviewed system</a:t>
            </a:r>
          </a:p>
        </p:txBody>
      </p:sp>
      <p:grpSp>
        <p:nvGrpSpPr>
          <p:cNvPr id="2" name="Google Shape;168;p6">
            <a:extLst>
              <a:ext uri="{FF2B5EF4-FFF2-40B4-BE49-F238E27FC236}">
                <a16:creationId xmlns:a16="http://schemas.microsoft.com/office/drawing/2014/main" id="{76DCD13F-BB57-67D6-248A-B2D91CDF47BB}"/>
              </a:ext>
            </a:extLst>
          </p:cNvPr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3" name="Google Shape;169;p6">
              <a:extLst>
                <a:ext uri="{FF2B5EF4-FFF2-40B4-BE49-F238E27FC236}">
                  <a16:creationId xmlns:a16="http://schemas.microsoft.com/office/drawing/2014/main" id="{E9899EA4-BB3D-68E4-05AE-6FC288B80031}"/>
                </a:ext>
              </a:extLst>
            </p:cNvPr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" name="Google Shape;170;p6">
              <a:extLst>
                <a:ext uri="{FF2B5EF4-FFF2-40B4-BE49-F238E27FC236}">
                  <a16:creationId xmlns:a16="http://schemas.microsoft.com/office/drawing/2014/main" id="{7982A52D-C845-2698-E2E5-565021FBC86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oogle Shape;140;p5">
            <a:extLst>
              <a:ext uri="{FF2B5EF4-FFF2-40B4-BE49-F238E27FC236}">
                <a16:creationId xmlns:a16="http://schemas.microsoft.com/office/drawing/2014/main" id="{1F0E0C47-DDA9-DAD7-80CA-00C69AF41C1A}"/>
              </a:ext>
            </a:extLst>
          </p:cNvPr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6" name="Google Shape;141;p5">
              <a:extLst>
                <a:ext uri="{FF2B5EF4-FFF2-40B4-BE49-F238E27FC236}">
                  <a16:creationId xmlns:a16="http://schemas.microsoft.com/office/drawing/2014/main" id="{5F449F05-AE99-66AD-FE82-E6F64A2A70F7}"/>
                </a:ext>
              </a:extLst>
            </p:cNvPr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42;p5">
              <a:extLst>
                <a:ext uri="{FF2B5EF4-FFF2-40B4-BE49-F238E27FC236}">
                  <a16:creationId xmlns:a16="http://schemas.microsoft.com/office/drawing/2014/main" id="{C2A04EAF-2DD2-B012-F0DF-61F21448E227}"/>
                </a:ext>
              </a:extLst>
            </p:cNvPr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43;p5">
              <a:extLst>
                <a:ext uri="{FF2B5EF4-FFF2-40B4-BE49-F238E27FC236}">
                  <a16:creationId xmlns:a16="http://schemas.microsoft.com/office/drawing/2014/main" id="{6B8F0DC0-0860-D142-8D93-07845F02B41D}"/>
                </a:ext>
              </a:extLst>
            </p:cNvPr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2362af273_0_24"/>
          <p:cNvSpPr txBox="1"/>
          <p:nvPr/>
        </p:nvSpPr>
        <p:spPr>
          <a:xfrm>
            <a:off x="95300" y="62400"/>
            <a:ext cx="23091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System Architecture</a:t>
            </a:r>
            <a:endParaRPr sz="14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1" name="Rounded Rectangle 200"/>
          <p:cNvSpPr/>
          <p:nvPr/>
        </p:nvSpPr>
        <p:spPr>
          <a:xfrm>
            <a:off x="118871" y="777240"/>
            <a:ext cx="1298448" cy="777240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720" b="1" i="0">
                <a:solidFill>
                  <a:srgbClr val="1A1A1A"/>
                </a:solidFill>
                <a:latin typeface="Georgia"/>
              </a:rPr>
              <a:t>User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1417319" y="1165860"/>
            <a:ext cx="109729" cy="0"/>
          </a:xfrm>
          <a:prstGeom prst="line">
            <a:avLst/>
          </a:prstGeom>
          <a:ln w="1905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Rounded Rectangle 202"/>
          <p:cNvSpPr/>
          <p:nvPr/>
        </p:nvSpPr>
        <p:spPr>
          <a:xfrm>
            <a:off x="1527048" y="777240"/>
            <a:ext cx="1298448" cy="777240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720" b="1" i="0">
                <a:solidFill>
                  <a:srgbClr val="1A1A1A"/>
                </a:solidFill>
                <a:latin typeface="Georgia"/>
              </a:rPr>
              <a:t>Frontend
(React Portals)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2825496" y="1165860"/>
            <a:ext cx="109728" cy="0"/>
          </a:xfrm>
          <a:prstGeom prst="line">
            <a:avLst/>
          </a:prstGeom>
          <a:ln w="1905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Rounded Rectangle 204"/>
          <p:cNvSpPr/>
          <p:nvPr/>
        </p:nvSpPr>
        <p:spPr>
          <a:xfrm>
            <a:off x="2935224" y="777240"/>
            <a:ext cx="1298448" cy="777240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720" b="1" i="0">
                <a:solidFill>
                  <a:srgbClr val="1A1A1A"/>
                </a:solidFill>
                <a:latin typeface="Georgia"/>
              </a:rPr>
              <a:t>Authentication
(JWT / RBAC)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4233672" y="1165860"/>
            <a:ext cx="109728" cy="0"/>
          </a:xfrm>
          <a:prstGeom prst="line">
            <a:avLst/>
          </a:prstGeom>
          <a:ln w="1905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Rounded Rectangle 206"/>
          <p:cNvSpPr/>
          <p:nvPr/>
        </p:nvSpPr>
        <p:spPr>
          <a:xfrm>
            <a:off x="4343400" y="777240"/>
            <a:ext cx="1298448" cy="777240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720" b="1" i="0">
                <a:solidFill>
                  <a:srgbClr val="1A1A1A"/>
                </a:solidFill>
                <a:latin typeface="Georgia"/>
              </a:rPr>
              <a:t>Voice Assistant
(Gemini + Web Speech API)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4992624" y="1554480"/>
            <a:ext cx="0" cy="411480"/>
          </a:xfrm>
          <a:prstGeom prst="line">
            <a:avLst/>
          </a:prstGeom>
          <a:ln w="1905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Rounded Rectangle 208"/>
          <p:cNvSpPr/>
          <p:nvPr/>
        </p:nvSpPr>
        <p:spPr>
          <a:xfrm>
            <a:off x="4343400" y="1965960"/>
            <a:ext cx="1298448" cy="777240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720" b="1" i="0">
                <a:solidFill>
                  <a:srgbClr val="1A1A1A"/>
                </a:solidFill>
                <a:latin typeface="Georgia"/>
              </a:rPr>
              <a:t>Backend APIs
(Node.js / Express.js)</a:t>
            </a:r>
          </a:p>
        </p:txBody>
      </p:sp>
      <p:cxnSp>
        <p:nvCxnSpPr>
          <p:cNvPr id="210" name="Connector 209"/>
          <p:cNvCxnSpPr/>
          <p:nvPr/>
        </p:nvCxnSpPr>
        <p:spPr>
          <a:xfrm flipH="1">
            <a:off x="4233672" y="2354579"/>
            <a:ext cx="109728" cy="0"/>
          </a:xfrm>
          <a:prstGeom prst="line">
            <a:avLst/>
          </a:prstGeom>
          <a:ln w="1905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ounded Rectangle 210"/>
          <p:cNvSpPr/>
          <p:nvPr/>
        </p:nvSpPr>
        <p:spPr>
          <a:xfrm>
            <a:off x="2935224" y="1965960"/>
            <a:ext cx="1298448" cy="777240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720" b="1" i="0">
                <a:solidFill>
                  <a:srgbClr val="1A1A1A"/>
                </a:solidFill>
                <a:latin typeface="Georgia"/>
              </a:rPr>
              <a:t>Database
(MongoDB Atlas)</a:t>
            </a:r>
          </a:p>
        </p:txBody>
      </p:sp>
      <p:cxnSp>
        <p:nvCxnSpPr>
          <p:cNvPr id="212" name="Connector 211"/>
          <p:cNvCxnSpPr/>
          <p:nvPr/>
        </p:nvCxnSpPr>
        <p:spPr>
          <a:xfrm flipH="1">
            <a:off x="2825496" y="2354579"/>
            <a:ext cx="109728" cy="0"/>
          </a:xfrm>
          <a:prstGeom prst="line">
            <a:avLst/>
          </a:prstGeom>
          <a:ln w="1905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Rounded Rectangle 212"/>
          <p:cNvSpPr/>
          <p:nvPr/>
        </p:nvSpPr>
        <p:spPr>
          <a:xfrm>
            <a:off x="1527048" y="1965960"/>
            <a:ext cx="1298448" cy="777240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720" b="1" i="0">
                <a:solidFill>
                  <a:srgbClr val="1A1A1A"/>
                </a:solidFill>
                <a:latin typeface="Georgia"/>
              </a:rPr>
              <a:t>Admin Panel
(Client-Admin Portal)</a:t>
            </a:r>
          </a:p>
        </p:txBody>
      </p:sp>
      <p:cxnSp>
        <p:nvCxnSpPr>
          <p:cNvPr id="214" name="Connector 213"/>
          <p:cNvCxnSpPr/>
          <p:nvPr/>
        </p:nvCxnSpPr>
        <p:spPr>
          <a:xfrm flipH="1">
            <a:off x="1417319" y="2354579"/>
            <a:ext cx="109729" cy="0"/>
          </a:xfrm>
          <a:prstGeom prst="line">
            <a:avLst/>
          </a:prstGeom>
          <a:ln w="19050">
            <a:solidFill>
              <a:srgbClr val="3333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Rounded Rectangle 214"/>
          <p:cNvSpPr/>
          <p:nvPr/>
        </p:nvSpPr>
        <p:spPr>
          <a:xfrm>
            <a:off x="118871" y="1965960"/>
            <a:ext cx="1298448" cy="777240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720" b="1" i="0">
                <a:solidFill>
                  <a:srgbClr val="1A1A1A"/>
                </a:solidFill>
                <a:latin typeface="Georgia"/>
              </a:rPr>
              <a:t>Reports / Analytics
(Power BI)</a:t>
            </a:r>
          </a:p>
        </p:txBody>
      </p:sp>
      <p:grpSp>
        <p:nvGrpSpPr>
          <p:cNvPr id="2" name="Google Shape;168;p6">
            <a:extLst>
              <a:ext uri="{FF2B5EF4-FFF2-40B4-BE49-F238E27FC236}">
                <a16:creationId xmlns:a16="http://schemas.microsoft.com/office/drawing/2014/main" id="{3E18AF75-E99F-F6FD-419B-42C0DEB6E96D}"/>
              </a:ext>
            </a:extLst>
          </p:cNvPr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3" name="Google Shape;169;p6">
              <a:extLst>
                <a:ext uri="{FF2B5EF4-FFF2-40B4-BE49-F238E27FC236}">
                  <a16:creationId xmlns:a16="http://schemas.microsoft.com/office/drawing/2014/main" id="{B308E80B-B7F9-DF02-1943-C368F83BA948}"/>
                </a:ext>
              </a:extLst>
            </p:cNvPr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" name="Google Shape;170;p6">
              <a:extLst>
                <a:ext uri="{FF2B5EF4-FFF2-40B4-BE49-F238E27FC236}">
                  <a16:creationId xmlns:a16="http://schemas.microsoft.com/office/drawing/2014/main" id="{C68330A0-BDB4-F19E-61A5-0B28E9965C0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oogle Shape;140;p5">
            <a:extLst>
              <a:ext uri="{FF2B5EF4-FFF2-40B4-BE49-F238E27FC236}">
                <a16:creationId xmlns:a16="http://schemas.microsoft.com/office/drawing/2014/main" id="{1388C274-28AD-E3CA-D314-C8C308D48652}"/>
              </a:ext>
            </a:extLst>
          </p:cNvPr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6" name="Google Shape;141;p5">
              <a:extLst>
                <a:ext uri="{FF2B5EF4-FFF2-40B4-BE49-F238E27FC236}">
                  <a16:creationId xmlns:a16="http://schemas.microsoft.com/office/drawing/2014/main" id="{30051A15-8054-3E21-4169-38D91318C34F}"/>
                </a:ext>
              </a:extLst>
            </p:cNvPr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42;p5">
              <a:extLst>
                <a:ext uri="{FF2B5EF4-FFF2-40B4-BE49-F238E27FC236}">
                  <a16:creationId xmlns:a16="http://schemas.microsoft.com/office/drawing/2014/main" id="{587A559D-71B1-69DC-3714-04B23E1AEBE9}"/>
                </a:ext>
              </a:extLst>
            </p:cNvPr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43;p5">
              <a:extLst>
                <a:ext uri="{FF2B5EF4-FFF2-40B4-BE49-F238E27FC236}">
                  <a16:creationId xmlns:a16="http://schemas.microsoft.com/office/drawing/2014/main" id="{995F2CAD-6A0D-1E1C-D558-E2C1792B8C7A}"/>
                </a:ext>
              </a:extLst>
            </p:cNvPr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2362af273_0_28"/>
          <p:cNvSpPr txBox="1"/>
          <p:nvPr/>
        </p:nvSpPr>
        <p:spPr>
          <a:xfrm>
            <a:off x="95300" y="62400"/>
            <a:ext cx="33669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Methodology / Algorithms</a:t>
            </a:r>
            <a:endParaRPr sz="14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137160" y="73152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760" b="1" i="0">
                <a:solidFill>
                  <a:srgbClr val="1A1A1A"/>
                </a:solidFill>
                <a:latin typeface="Arial"/>
              </a:rPr>
              <a:t>● 1. JWT Stateless Authentication &amp; RBAC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Purpose: verify identity without server-side session state.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Working: sign token at login -&gt; re-fetch user record &amp; role on every protected request -&gt; grant/deny by role + active status.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Advantage: a blocked account loses access on its very next request.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760" b="1" i="0">
                <a:solidFill>
                  <a:srgbClr val="1A1A1A"/>
                </a:solidFill>
                <a:latin typeface="Arial"/>
              </a:rPr>
              <a:t>● 2. HMAC-SHA256 Payment Verification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Purpose: guarantee a recorded payment matches what the gateway actually processed.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Working: server recomputes S = HMAC-SHA256(secret, orderId|paymentId) and rejects any mismatch before touching financial records.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Advantage: immune to client-side amount tampering.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760" b="1" i="0">
                <a:solidFill>
                  <a:srgbClr val="1A1A1A"/>
                </a:solidFill>
                <a:latin typeface="Arial"/>
              </a:rPr>
              <a:t>● 3. Real-Time WebSocket Notification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Purpose: alert staff instantly on new bookings/payments.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Working: server broadcasts an event to the admin room immediately after DB persistence -- no polling interval.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760" b="1" i="0">
                <a:solidFill>
                  <a:srgbClr val="1A1A1A"/>
                </a:solidFill>
                <a:latin typeface="Arial"/>
              </a:rPr>
              <a:t>● 4. Multilingual Voice Assistant Pipeline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Purpose: accessible, context-grounded conversational support.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Working: mic -&gt; browser SpeechRecognition -&gt; Gemini (grounded prompt, language-conditioned) -&gt; streamed reply -&gt; SpeechSynthesis (voice-initiated replies only).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760" b="1" i="0">
                <a:solidFill>
                  <a:srgbClr val="1A1A1A"/>
                </a:solidFill>
                <a:latin typeface="Arial"/>
              </a:rPr>
              <a:t>● 5. Power BI Aggregation Pipeline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Purpose: live, read-only business-intelligence dashboards.</a:t>
            </a:r>
          </a:p>
          <a:p>
            <a:pPr>
              <a:lnSpc>
                <a:spcPct val="100000"/>
              </a:lnSpc>
              <a:spcAft>
                <a:spcPts val="22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   ● Working: MongoDB aggregation (group/facet/time-bucket) behind a dedicated API-key -- scales with reporting dimensions, not row count.</a:t>
            </a:r>
          </a:p>
        </p:txBody>
      </p:sp>
      <p:grpSp>
        <p:nvGrpSpPr>
          <p:cNvPr id="2" name="Google Shape;168;p6">
            <a:extLst>
              <a:ext uri="{FF2B5EF4-FFF2-40B4-BE49-F238E27FC236}">
                <a16:creationId xmlns:a16="http://schemas.microsoft.com/office/drawing/2014/main" id="{2A2FC696-AA6E-849F-C210-C909C9B9AB16}"/>
              </a:ext>
            </a:extLst>
          </p:cNvPr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3" name="Google Shape;169;p6">
              <a:extLst>
                <a:ext uri="{FF2B5EF4-FFF2-40B4-BE49-F238E27FC236}">
                  <a16:creationId xmlns:a16="http://schemas.microsoft.com/office/drawing/2014/main" id="{240BFF27-6565-0939-0B46-34333184D0B4}"/>
                </a:ext>
              </a:extLst>
            </p:cNvPr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" name="Google Shape;170;p6">
              <a:extLst>
                <a:ext uri="{FF2B5EF4-FFF2-40B4-BE49-F238E27FC236}">
                  <a16:creationId xmlns:a16="http://schemas.microsoft.com/office/drawing/2014/main" id="{A1973A20-787A-7005-6657-F64CF38A0F7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oogle Shape;140;p5">
            <a:extLst>
              <a:ext uri="{FF2B5EF4-FFF2-40B4-BE49-F238E27FC236}">
                <a16:creationId xmlns:a16="http://schemas.microsoft.com/office/drawing/2014/main" id="{352587BF-C1E6-7BCB-3C28-4B3CC708D3BE}"/>
              </a:ext>
            </a:extLst>
          </p:cNvPr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6" name="Google Shape;141;p5">
              <a:extLst>
                <a:ext uri="{FF2B5EF4-FFF2-40B4-BE49-F238E27FC236}">
                  <a16:creationId xmlns:a16="http://schemas.microsoft.com/office/drawing/2014/main" id="{8EE3D466-8BDA-0B55-6679-1C5DE98020C2}"/>
                </a:ext>
              </a:extLst>
            </p:cNvPr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42;p5">
              <a:extLst>
                <a:ext uri="{FF2B5EF4-FFF2-40B4-BE49-F238E27FC236}">
                  <a16:creationId xmlns:a16="http://schemas.microsoft.com/office/drawing/2014/main" id="{C502FD18-E198-6EE9-B882-22CFD79D1C09}"/>
                </a:ext>
              </a:extLst>
            </p:cNvPr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43;p5">
              <a:extLst>
                <a:ext uri="{FF2B5EF4-FFF2-40B4-BE49-F238E27FC236}">
                  <a16:creationId xmlns:a16="http://schemas.microsoft.com/office/drawing/2014/main" id="{E090D5D8-152C-24FA-669B-3D1997762C3D}"/>
                </a:ext>
              </a:extLst>
            </p:cNvPr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2362af273_0_24"/>
          <p:cNvSpPr txBox="1"/>
          <p:nvPr/>
        </p:nvSpPr>
        <p:spPr>
          <a:xfrm>
            <a:off x="95300" y="62400"/>
            <a:ext cx="23091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Working Modules</a:t>
            </a:r>
            <a:endParaRPr sz="14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1" name="Rounded Rectangle 200"/>
          <p:cNvSpPr/>
          <p:nvPr/>
        </p:nvSpPr>
        <p:spPr>
          <a:xfrm>
            <a:off x="182880" y="566928"/>
            <a:ext cx="1737360" cy="658368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760" b="1" i="0">
                <a:solidFill>
                  <a:srgbClr val="1A1A1A"/>
                </a:solidFill>
                <a:latin typeface="Georgia"/>
              </a:rPr>
              <a:t>User Module
(Search, Booking)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2011680" y="566928"/>
            <a:ext cx="1737360" cy="658368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760" b="1" i="0">
                <a:solidFill>
                  <a:srgbClr val="1A1A1A"/>
                </a:solidFill>
                <a:latin typeface="Georgia"/>
              </a:rPr>
              <a:t>Authentication Module
(JWT, RBAC)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3840480" y="566928"/>
            <a:ext cx="1737360" cy="658368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760" b="1" i="0">
                <a:solidFill>
                  <a:srgbClr val="1A1A1A"/>
                </a:solidFill>
                <a:latin typeface="Georgia"/>
              </a:rPr>
              <a:t>Voice Assistant Module
(Gemini + Speech API)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182880" y="1408176"/>
            <a:ext cx="1737360" cy="658368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760" b="1" i="0">
                <a:solidFill>
                  <a:srgbClr val="1A1A1A"/>
                </a:solidFill>
                <a:latin typeface="Georgia"/>
              </a:rPr>
              <a:t>Booking &amp; Payment
Module (Razorpay)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2011680" y="1408176"/>
            <a:ext cx="1737360" cy="658368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760" b="1" i="0">
                <a:solidFill>
                  <a:srgbClr val="1A1A1A"/>
                </a:solidFill>
                <a:latin typeface="Georgia"/>
              </a:rPr>
              <a:t>Admin Module
(Approvals, CRUD)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3840480" y="1408176"/>
            <a:ext cx="1737360" cy="658368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760" b="1" i="0">
                <a:solidFill>
                  <a:srgbClr val="1A1A1A"/>
                </a:solidFill>
                <a:latin typeface="Georgia"/>
              </a:rPr>
              <a:t>Database Module
(MongoDB / Mongoose)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182880" y="2249424"/>
            <a:ext cx="1737360" cy="658368"/>
          </a:xfrm>
          <a:prstGeom prst="roundRect">
            <a:avLst/>
          </a:prstGeom>
          <a:solidFill>
            <a:srgbClr val="EFEFFB"/>
          </a:solidFill>
          <a:ln w="15875">
            <a:solidFill>
              <a:srgbClr val="3333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760" b="1" i="0">
                <a:solidFill>
                  <a:srgbClr val="1A1A1A"/>
                </a:solidFill>
                <a:latin typeface="Georgia"/>
              </a:rPr>
              <a:t>Reporting Module
(Power BI API)</a:t>
            </a:r>
          </a:p>
        </p:txBody>
      </p:sp>
      <p:grpSp>
        <p:nvGrpSpPr>
          <p:cNvPr id="2" name="Google Shape;168;p6">
            <a:extLst>
              <a:ext uri="{FF2B5EF4-FFF2-40B4-BE49-F238E27FC236}">
                <a16:creationId xmlns:a16="http://schemas.microsoft.com/office/drawing/2014/main" id="{39A38A33-FA70-B36A-9C2D-AB7E5FC8E276}"/>
              </a:ext>
            </a:extLst>
          </p:cNvPr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3" name="Google Shape;169;p6">
              <a:extLst>
                <a:ext uri="{FF2B5EF4-FFF2-40B4-BE49-F238E27FC236}">
                  <a16:creationId xmlns:a16="http://schemas.microsoft.com/office/drawing/2014/main" id="{D0D139BE-364F-518B-28E8-CC2F304E86ED}"/>
                </a:ext>
              </a:extLst>
            </p:cNvPr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" name="Google Shape;170;p6">
              <a:extLst>
                <a:ext uri="{FF2B5EF4-FFF2-40B4-BE49-F238E27FC236}">
                  <a16:creationId xmlns:a16="http://schemas.microsoft.com/office/drawing/2014/main" id="{83FFCD72-27A6-DE68-0133-7DF5DB9ADCF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 txBox="1"/>
          <p:nvPr/>
        </p:nvSpPr>
        <p:spPr>
          <a:xfrm>
            <a:off x="95300" y="62400"/>
            <a:ext cx="3481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Requirements</a:t>
            </a:r>
            <a:endParaRPr sz="14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211" name="Google Shape;211;p7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212" name="Google Shape;212;p7"/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3" name="Google Shape;213;p7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" name="Google Shape;214;p7"/>
          <p:cNvSpPr/>
          <p:nvPr/>
        </p:nvSpPr>
        <p:spPr>
          <a:xfrm>
            <a:off x="72333" y="605009"/>
            <a:ext cx="5586730" cy="196850"/>
          </a:xfrm>
          <a:custGeom>
            <a:avLst/>
            <a:gdLst/>
            <a:ahLst/>
            <a:cxnLst/>
            <a:rect l="l" t="t" r="r" b="b"/>
            <a:pathLst>
              <a:path w="5586730" h="196850" extrusionOk="0">
                <a:moveTo>
                  <a:pt x="553555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6737"/>
                </a:lnTo>
                <a:lnTo>
                  <a:pt x="5586351" y="196737"/>
                </a:lnTo>
                <a:lnTo>
                  <a:pt x="5586351" y="50800"/>
                </a:lnTo>
                <a:lnTo>
                  <a:pt x="5582343" y="31075"/>
                </a:lnTo>
                <a:lnTo>
                  <a:pt x="5571428" y="14922"/>
                </a:lnTo>
                <a:lnTo>
                  <a:pt x="5555275" y="4008"/>
                </a:lnTo>
                <a:lnTo>
                  <a:pt x="5535550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  <a:endParaRPr sz="12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137655" y="1028457"/>
            <a:ext cx="2926080" cy="21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300" rIns="0" bIns="0" anchor="t" anchorCtr="0"/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Hardware</a:t>
            </a:r>
            <a:endParaRPr sz="12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86854" y="1853005"/>
            <a:ext cx="5586730" cy="186690"/>
          </a:xfrm>
          <a:custGeom>
            <a:avLst/>
            <a:gdLst/>
            <a:ahLst/>
            <a:cxnLst/>
            <a:rect l="l" t="t" r="r" b="b"/>
            <a:pathLst>
              <a:path w="5586730" h="186689" extrusionOk="0">
                <a:moveTo>
                  <a:pt x="553555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94"/>
                </a:lnTo>
                <a:lnTo>
                  <a:pt x="5586351" y="186194"/>
                </a:lnTo>
                <a:lnTo>
                  <a:pt x="5586351" y="50800"/>
                </a:lnTo>
                <a:lnTo>
                  <a:pt x="5582343" y="31075"/>
                </a:lnTo>
                <a:lnTo>
                  <a:pt x="5571428" y="14922"/>
                </a:lnTo>
                <a:lnTo>
                  <a:pt x="5555275" y="4008"/>
                </a:lnTo>
                <a:lnTo>
                  <a:pt x="5535550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144175" y="1822275"/>
            <a:ext cx="292608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300" rIns="0" bIns="0" anchor="t" anchorCtr="0"/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Software</a:t>
            </a:r>
            <a:endParaRPr sz="12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65549" y="2073262"/>
            <a:ext cx="5586600" cy="3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1600" rIns="0" bIns="0" anchor="t" anchorCtr="0">
            <a:spAutoFit/>
          </a:bodyPr>
          <a:lstStyle/>
          <a:p>
            <a:pPr marL="275590" marR="0" lvl="0" indent="-175895" algn="l" rtl="0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Arial"/>
              <a:buAutoNum type="arabicPeriod"/>
            </a:pP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9" name="Google Shape;219;p7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220" name="Google Shape;220;p7"/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p7"/>
          <p:cNvSpPr txBox="1">
            <a:spLocks noGrp="1"/>
          </p:cNvSpPr>
          <p:nvPr>
            <p:ph type="ftr" idx="11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224" name="Google Shape;224;p7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4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1" i="0" u="sng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Department of CSE</a:t>
            </a:r>
            <a:endParaRPr sz="6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5" name="Google Shape;225;p7"/>
          <p:cNvSpPr txBox="1">
            <a:spLocks noGrp="1"/>
          </p:cNvSpPr>
          <p:nvPr>
            <p:ph type="dt" idx="10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226" name="Google Shape;226;p7"/>
          <p:cNvSpPr txBox="1">
            <a:spLocks noGrp="1"/>
          </p:cNvSpPr>
          <p:nvPr>
            <p:ph type="sldNum" idx="12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15</a:t>
            </a:fld>
            <a:r>
              <a:rPr lang="en-US"/>
              <a:t> / 9</a:t>
            </a:r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137160" y="8686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30" b="0" i="0">
                <a:solidFill>
                  <a:srgbClr val="1A1A1A"/>
                </a:solidFill>
                <a:latin typeface="Arial"/>
              </a:rPr>
              <a:t>● Processor: Dual-core 2 GHz+  |  RAM: 4 GB minimum (8 GB recommended)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30" b="0" i="0">
                <a:solidFill>
                  <a:srgbClr val="1A1A1A"/>
                </a:solidFill>
                <a:latin typeface="Arial"/>
              </a:rPr>
              <a:t>● Storage: 500 MB free disk space  |  Stable broadband Internet connection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37160" y="2103120"/>
            <a:ext cx="5486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30" b="0" i="0">
                <a:solidFill>
                  <a:srgbClr val="1A1A1A"/>
                </a:solidFill>
                <a:latin typeface="Arial"/>
              </a:rPr>
              <a:t>● OS: Windows / macOS / Linux  |  Node.js 18 LTS  |  React.js 18.2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30" b="0" i="0">
                <a:solidFill>
                  <a:srgbClr val="1A1A1A"/>
                </a:solidFill>
                <a:latin typeface="Arial"/>
              </a:rPr>
              <a:t>● MongoDB Atlas (cloud) | VS Code IDE | Razorpay, Google Gemini, Cloudinary &amp; Mailjet APIs | Power BI Desktop/Service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 txBox="1"/>
          <p:nvPr/>
        </p:nvSpPr>
        <p:spPr>
          <a:xfrm>
            <a:off x="95300" y="62400"/>
            <a:ext cx="3481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Technology Stack</a:t>
            </a:r>
            <a:endParaRPr sz="14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211" name="Google Shape;211;p7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212" name="Google Shape;212;p7"/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3" name="Google Shape;213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" name="Google Shape;214;p7"/>
          <p:cNvSpPr/>
          <p:nvPr/>
        </p:nvSpPr>
        <p:spPr>
          <a:xfrm>
            <a:off x="72333" y="605009"/>
            <a:ext cx="5586730" cy="196850"/>
          </a:xfrm>
          <a:custGeom>
            <a:avLst/>
            <a:gdLst/>
            <a:ahLst/>
            <a:cxnLst/>
            <a:rect l="l" t="t" r="r" b="b"/>
            <a:pathLst>
              <a:path w="5586730" h="196850" extrusionOk="0">
                <a:moveTo>
                  <a:pt x="553555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6737"/>
                </a:lnTo>
                <a:lnTo>
                  <a:pt x="5586351" y="196737"/>
                </a:lnTo>
                <a:lnTo>
                  <a:pt x="5586351" y="50800"/>
                </a:lnTo>
                <a:lnTo>
                  <a:pt x="5582343" y="31075"/>
                </a:lnTo>
                <a:lnTo>
                  <a:pt x="5571428" y="14922"/>
                </a:lnTo>
                <a:lnTo>
                  <a:pt x="5555275" y="4008"/>
                </a:lnTo>
                <a:lnTo>
                  <a:pt x="5535550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Frontend &amp; Backend</a:t>
            </a:r>
            <a:endParaRPr sz="12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137655" y="1028457"/>
            <a:ext cx="2926080" cy="216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300" rIns="0" bIns="0" anchor="t" anchorCtr="0"/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Frontend &amp; Backend</a:t>
            </a:r>
            <a:endParaRPr sz="12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86854" y="1853005"/>
            <a:ext cx="5586730" cy="186690"/>
          </a:xfrm>
          <a:custGeom>
            <a:avLst/>
            <a:gdLst/>
            <a:ahLst/>
            <a:cxnLst/>
            <a:rect l="l" t="t" r="r" b="b"/>
            <a:pathLst>
              <a:path w="5586730" h="186689" extrusionOk="0">
                <a:moveTo>
                  <a:pt x="553555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94"/>
                </a:lnTo>
                <a:lnTo>
                  <a:pt x="5586351" y="186194"/>
                </a:lnTo>
                <a:lnTo>
                  <a:pt x="5586351" y="50800"/>
                </a:lnTo>
                <a:lnTo>
                  <a:pt x="5582343" y="31075"/>
                </a:lnTo>
                <a:lnTo>
                  <a:pt x="5571428" y="14922"/>
                </a:lnTo>
                <a:lnTo>
                  <a:pt x="5555275" y="4008"/>
                </a:lnTo>
                <a:lnTo>
                  <a:pt x="5535550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144175" y="1822275"/>
            <a:ext cx="2926080" cy="2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300" rIns="0" bIns="0" anchor="t" anchorCtr="0"/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Third-Party Services &amp; AI</a:t>
            </a:r>
            <a:endParaRPr sz="12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65549" y="2073262"/>
            <a:ext cx="5586600" cy="3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1600" rIns="0" bIns="0" anchor="t" anchorCtr="0">
            <a:spAutoFit/>
          </a:bodyPr>
          <a:lstStyle/>
          <a:p>
            <a:pPr marL="275590" marR="0" lvl="0" indent="-175895" algn="l" rtl="0">
              <a:lnSpc>
                <a:spcPct val="100000"/>
              </a:lnSpc>
              <a:spcBef>
                <a:spcPts val="1115"/>
              </a:spcBef>
              <a:spcAft>
                <a:spcPts val="0"/>
              </a:spcAft>
              <a:buClr>
                <a:srgbClr val="3333B2"/>
              </a:buClr>
              <a:buSzPts val="1100"/>
              <a:buFont typeface="Arial"/>
              <a:buAutoNum type="arabicPeriod"/>
            </a:pP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9" name="Google Shape;219;p7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220" name="Google Shape;220;p7"/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p7"/>
          <p:cNvSpPr txBox="1">
            <a:spLocks noGrp="1"/>
          </p:cNvSpPr>
          <p:nvPr>
            <p:ph type="ftr" idx="11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224" name="Google Shape;224;p7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4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1" i="0" u="sng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Department of CSE</a:t>
            </a:r>
            <a:endParaRPr sz="6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5" name="Google Shape;225;p7"/>
          <p:cNvSpPr txBox="1">
            <a:spLocks noGrp="1"/>
          </p:cNvSpPr>
          <p:nvPr>
            <p:ph type="dt" idx="10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226" name="Google Shape;226;p7"/>
          <p:cNvSpPr txBox="1">
            <a:spLocks noGrp="1"/>
          </p:cNvSpPr>
          <p:nvPr>
            <p:ph type="sldNum" idx="12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16</a:t>
            </a:fld>
            <a:r>
              <a:rPr lang="en-US"/>
              <a:t> / 9</a:t>
            </a:r>
            <a:endParaRPr/>
          </a:p>
        </p:txBody>
      </p:sp>
      <p:graphicFrame>
        <p:nvGraphicFramePr>
          <p:cNvPr id="227" name="Table 226"/>
          <p:cNvGraphicFramePr>
            <a:graphicFrameLocks noGrp="1"/>
          </p:cNvGraphicFramePr>
          <p:nvPr/>
        </p:nvGraphicFramePr>
        <p:xfrm>
          <a:off x="91440" y="868680"/>
          <a:ext cx="55778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Layer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Technology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Purpose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React.js 18 (dual portals)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Client-user &amp; Client-admin SPAs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Node.js 18 / Express.js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REST API, business logic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Database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MongoDB Atlas / Mongoose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Document persistence &amp; ODM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Real-time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Socket.IO (WebSocket)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Live admin notifications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8" name="Table 227"/>
          <p:cNvGraphicFramePr>
            <a:graphicFrameLocks noGrp="1"/>
          </p:cNvGraphicFramePr>
          <p:nvPr/>
        </p:nvGraphicFramePr>
        <p:xfrm>
          <a:off x="91440" y="2084831"/>
          <a:ext cx="55778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Layer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Technology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i="0">
                          <a:solidFill>
                            <a:srgbClr val="1A1A1A"/>
                          </a:solidFill>
                          <a:latin typeface="Georgia"/>
                        </a:rPr>
                        <a:t>Purpose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Payments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Razorpay (HMAC-SHA256)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Verified purchase advances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AI / Voice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Gemini API + Web Speech API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Multilingual chat &amp; voice I/O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Storage / Mail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Cloudinary / Mailjet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Media storage, OTP email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Analytics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Power BI (REST API)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660" b="0" i="0">
                          <a:solidFill>
                            <a:srgbClr val="1A1A1A"/>
                          </a:solidFill>
                          <a:latin typeface="Arial"/>
                        </a:rPr>
                        <a:t>Live BI dashboards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"/>
          <p:cNvSpPr txBox="1">
            <a:spLocks noGrp="1"/>
          </p:cNvSpPr>
          <p:nvPr>
            <p:ph type="title"/>
          </p:nvPr>
        </p:nvSpPr>
        <p:spPr>
          <a:xfrm>
            <a:off x="95300" y="62400"/>
            <a:ext cx="30666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Experimental Results</a:t>
            </a:r>
            <a:endParaRPr/>
          </a:p>
        </p:txBody>
      </p:sp>
      <p:grpSp>
        <p:nvGrpSpPr>
          <p:cNvPr id="233" name="Google Shape;233;p8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234" name="Google Shape;234;p8"/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5" name="Google Shape;235;p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6" name="Google Shape;236;p8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237" name="Google Shape;237;p8"/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" name="Google Shape;240;p8"/>
          <p:cNvSpPr txBox="1">
            <a:spLocks noGrp="1"/>
          </p:cNvSpPr>
          <p:nvPr>
            <p:ph type="ftr" idx="11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241" name="Google Shape;241;p8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4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1" i="0" u="sng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Department of CSE</a:t>
            </a:r>
            <a:endParaRPr sz="6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2" name="Google Shape;242;p8"/>
          <p:cNvSpPr txBox="1">
            <a:spLocks noGrp="1"/>
          </p:cNvSpPr>
          <p:nvPr>
            <p:ph type="dt" idx="10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243" name="Google Shape;243;p8"/>
          <p:cNvSpPr txBox="1">
            <a:spLocks noGrp="1"/>
          </p:cNvSpPr>
          <p:nvPr>
            <p:ph type="sldNum" idx="12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17</a:t>
            </a:fld>
            <a:r>
              <a:rPr lang="en-US"/>
              <a:t> / 9</a:t>
            </a:r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137160" y="777240"/>
            <a:ext cx="2331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 b="1" i="0">
                <a:solidFill>
                  <a:srgbClr val="1A1A1A"/>
                </a:solidFill>
                <a:latin typeface="Arial"/>
              </a:rPr>
              <a:t>● Dataset scale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00" b="0" i="0">
                <a:solidFill>
                  <a:srgbClr val="1A1A1A"/>
                </a:solidFill>
                <a:latin typeface="Arial"/>
              </a:rPr>
              <a:t>   ● 45 properties, 120 users, 280 bookings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00" b="0" i="0">
                <a:solidFill>
                  <a:srgbClr val="1A1A1A"/>
                </a:solidFill>
                <a:latin typeface="Arial"/>
              </a:rPr>
              <a:t>   ● 195 payments, 41 rental + 12 purchase contracts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00" b="0" i="0">
                <a:solidFill>
                  <a:srgbClr val="1A1A1A"/>
                </a:solidFill>
                <a:latin typeface="Arial"/>
              </a:rPr>
              <a:t>   ● 310 financial &amp; 87 service transactions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 b="1" i="0">
                <a:solidFill>
                  <a:srgbClr val="1A1A1A"/>
                </a:solidFill>
                <a:latin typeface="Arial"/>
              </a:rPr>
              <a:t>● Functional correctness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00" b="0" i="0">
                <a:solidFill>
                  <a:srgbClr val="1A1A1A"/>
                </a:solidFill>
                <a:latin typeface="Arial"/>
              </a:rPr>
              <a:t>   ● 38 / 38 scripted test scenarios passed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 b="1" i="0">
                <a:solidFill>
                  <a:srgbClr val="1A1A1A"/>
                </a:solidFill>
                <a:latin typeface="Arial"/>
              </a:rPr>
              <a:t>● Security testing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00" b="0" i="0">
                <a:solidFill>
                  <a:srgbClr val="1A1A1A"/>
                </a:solidFill>
                <a:latin typeface="Arial"/>
              </a:rPr>
              <a:t>   ● 14 / 14 adversarial checks passed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 b="1" i="0">
                <a:solidFill>
                  <a:srgbClr val="1A1A1A"/>
                </a:solidFill>
                <a:latin typeface="Arial"/>
              </a:rPr>
              <a:t>● Concurrent load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700" b="0" i="0">
                <a:solidFill>
                  <a:srgbClr val="1A1A1A"/>
                </a:solidFill>
                <a:latin typeface="Arial"/>
              </a:rPr>
              <a:t>   ● 100 users at sub-500 ms mean latency, &lt;0.2% errors</a:t>
            </a:r>
          </a:p>
        </p:txBody>
      </p:sp>
      <p:graphicFrame>
        <p:nvGraphicFramePr>
          <p:cNvPr id="245" name="Chart 244"/>
          <p:cNvGraphicFramePr>
            <a:graphicFrameLocks noGrp="1"/>
          </p:cNvGraphicFramePr>
          <p:nvPr/>
        </p:nvGraphicFramePr>
        <p:xfrm>
          <a:off x="2606040" y="731520"/>
          <a:ext cx="30632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2362af273_0_41"/>
          <p:cNvSpPr txBox="1">
            <a:spLocks noGrp="1"/>
          </p:cNvSpPr>
          <p:nvPr>
            <p:ph type="title"/>
          </p:nvPr>
        </p:nvSpPr>
        <p:spPr>
          <a:xfrm>
            <a:off x="95300" y="62405"/>
            <a:ext cx="18504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 Analysis</a:t>
            </a:r>
            <a:endParaRPr/>
          </a:p>
        </p:txBody>
      </p:sp>
      <p:graphicFrame>
        <p:nvGraphicFramePr>
          <p:cNvPr id="255" name="Table 254"/>
          <p:cNvGraphicFramePr>
            <a:graphicFrameLocks noGrp="1"/>
          </p:cNvGraphicFramePr>
          <p:nvPr/>
        </p:nvGraphicFramePr>
        <p:xfrm>
          <a:off x="457200" y="594360"/>
          <a:ext cx="48463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A1A1A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A1A1A"/>
                          </a:solidFill>
                          <a:latin typeface="Georgia"/>
                        </a:rPr>
                        <a:t>Value</a:t>
                      </a:r>
                    </a:p>
                  </a:txBody>
                  <a:tcPr marL="36576" marR="36576" marT="18288" marB="18288" anchor="ctr">
                    <a:solidFill>
                      <a:srgbClr val="E4E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Functional correctness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38 / 38 scenarios passed (100%)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Adversarial security tests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14 / 14 passed (100%)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Mean latency @ 100 users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494 ms (95th pct. 743 ms)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Error rate @ 100 users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0.15%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Error rate @ 200 users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3.18%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Real-time notification delivery</a:t>
                      </a:r>
                    </a:p>
                  </a:txBody>
                  <a:tcPr marL="36576" marR="36576" marT="18288" marB="1828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1A1A1A"/>
                          </a:solidFill>
                          <a:latin typeface="Arial"/>
                        </a:rPr>
                        <a:t>&lt; 2 seconds (field-observed)</a:t>
                      </a:r>
                    </a:p>
                  </a:txBody>
                  <a:tcPr marL="36576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" name="Google Shape;168;p6">
            <a:extLst>
              <a:ext uri="{FF2B5EF4-FFF2-40B4-BE49-F238E27FC236}">
                <a16:creationId xmlns:a16="http://schemas.microsoft.com/office/drawing/2014/main" id="{AC7BBC61-A947-0F71-9D83-E342007775CB}"/>
              </a:ext>
            </a:extLst>
          </p:cNvPr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3" name="Google Shape;169;p6">
              <a:extLst>
                <a:ext uri="{FF2B5EF4-FFF2-40B4-BE49-F238E27FC236}">
                  <a16:creationId xmlns:a16="http://schemas.microsoft.com/office/drawing/2014/main" id="{36D79FC2-5B22-70D5-158F-59E7166FEC52}"/>
                </a:ext>
              </a:extLst>
            </p:cNvPr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" name="Google Shape;170;p6">
              <a:extLst>
                <a:ext uri="{FF2B5EF4-FFF2-40B4-BE49-F238E27FC236}">
                  <a16:creationId xmlns:a16="http://schemas.microsoft.com/office/drawing/2014/main" id="{50308B60-4136-9953-1B76-6041ED776BA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oogle Shape;140;p5">
            <a:extLst>
              <a:ext uri="{FF2B5EF4-FFF2-40B4-BE49-F238E27FC236}">
                <a16:creationId xmlns:a16="http://schemas.microsoft.com/office/drawing/2014/main" id="{1AFD002B-FEF7-6F2C-1FBB-6CAB270B69EC}"/>
              </a:ext>
            </a:extLst>
          </p:cNvPr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6" name="Google Shape;141;p5">
              <a:extLst>
                <a:ext uri="{FF2B5EF4-FFF2-40B4-BE49-F238E27FC236}">
                  <a16:creationId xmlns:a16="http://schemas.microsoft.com/office/drawing/2014/main" id="{1F71E6A5-8A80-A9B6-8F5E-1F0175C33171}"/>
                </a:ext>
              </a:extLst>
            </p:cNvPr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42;p5">
              <a:extLst>
                <a:ext uri="{FF2B5EF4-FFF2-40B4-BE49-F238E27FC236}">
                  <a16:creationId xmlns:a16="http://schemas.microsoft.com/office/drawing/2014/main" id="{846A17E6-F385-AB31-7EA5-EE67C0B78A0C}"/>
                </a:ext>
              </a:extLst>
            </p:cNvPr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43;p5">
              <a:extLst>
                <a:ext uri="{FF2B5EF4-FFF2-40B4-BE49-F238E27FC236}">
                  <a16:creationId xmlns:a16="http://schemas.microsoft.com/office/drawing/2014/main" id="{3E2617A7-B2CE-BA49-1FE5-B813783A570F}"/>
                </a:ext>
              </a:extLst>
            </p:cNvPr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2362af273_0_51"/>
          <p:cNvSpPr txBox="1">
            <a:spLocks noGrp="1"/>
          </p:cNvSpPr>
          <p:nvPr>
            <p:ph type="title"/>
          </p:nvPr>
        </p:nvSpPr>
        <p:spPr>
          <a:xfrm>
            <a:off x="95300" y="62400"/>
            <a:ext cx="33996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137160" y="777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30" b="0" i="0">
                <a:solidFill>
                  <a:srgbClr val="1A1A1A"/>
                </a:solidFill>
                <a:latin typeface="Arial"/>
              </a:rPr>
              <a:t>● Delivered a dual-portal, three-tier MERN platform unifying cataloguing, booking, payments, contracts &amp; maintenance.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30" b="0" i="0">
                <a:solidFill>
                  <a:srgbClr val="1A1A1A"/>
                </a:solidFill>
                <a:latin typeface="Arial"/>
              </a:rPr>
              <a:t>● All 5 objectives met: real-time notification, HMAC-verified payments, RBAC, multilingual voice AI, and Power BI analytics.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30" b="0" i="0">
                <a:solidFill>
                  <a:srgbClr val="1A1A1A"/>
                </a:solidFill>
                <a:latin typeface="Arial"/>
              </a:rPr>
              <a:t>● Empirically validated: 38/38 functional tests, 14/14 security tests, 100 concurrent users at sub-500 ms latency.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30" b="0" i="0">
                <a:solidFill>
                  <a:srgbClr val="1A1A1A"/>
                </a:solidFill>
                <a:latin typeface="Arial"/>
              </a:rPr>
              <a:t>● Practical benefit: reduces admin overhead, improves payment trust, and adds voice accessibility in English, Hindi &amp; Telugu.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930" b="0" i="0">
                <a:solidFill>
                  <a:srgbClr val="1A1A1A"/>
                </a:solidFill>
                <a:latin typeface="Arial"/>
              </a:rPr>
              <a:t>● Demonstrates a production-quality system built entirely on free-tier tooling, viable for small/mid-size operators.</a:t>
            </a:r>
          </a:p>
        </p:txBody>
      </p:sp>
      <p:grpSp>
        <p:nvGrpSpPr>
          <p:cNvPr id="2" name="Google Shape;168;p6">
            <a:extLst>
              <a:ext uri="{FF2B5EF4-FFF2-40B4-BE49-F238E27FC236}">
                <a16:creationId xmlns:a16="http://schemas.microsoft.com/office/drawing/2014/main" id="{72E7EE5D-9384-6931-1475-AC44AE698528}"/>
              </a:ext>
            </a:extLst>
          </p:cNvPr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3" name="Google Shape;169;p6">
              <a:extLst>
                <a:ext uri="{FF2B5EF4-FFF2-40B4-BE49-F238E27FC236}">
                  <a16:creationId xmlns:a16="http://schemas.microsoft.com/office/drawing/2014/main" id="{C87C0317-9639-CAD2-E62C-C5C0D1C01835}"/>
                </a:ext>
              </a:extLst>
            </p:cNvPr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" name="Google Shape;170;p6">
              <a:extLst>
                <a:ext uri="{FF2B5EF4-FFF2-40B4-BE49-F238E27FC236}">
                  <a16:creationId xmlns:a16="http://schemas.microsoft.com/office/drawing/2014/main" id="{15D6052F-5454-EEFF-E41E-5706D8688CB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oogle Shape;140;p5">
            <a:extLst>
              <a:ext uri="{FF2B5EF4-FFF2-40B4-BE49-F238E27FC236}">
                <a16:creationId xmlns:a16="http://schemas.microsoft.com/office/drawing/2014/main" id="{B57E3F49-8FC1-9253-5352-DA981791E5CD}"/>
              </a:ext>
            </a:extLst>
          </p:cNvPr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6" name="Google Shape;141;p5">
              <a:extLst>
                <a:ext uri="{FF2B5EF4-FFF2-40B4-BE49-F238E27FC236}">
                  <a16:creationId xmlns:a16="http://schemas.microsoft.com/office/drawing/2014/main" id="{87BB65BE-50B9-F9EF-BF77-835589B869E0}"/>
                </a:ext>
              </a:extLst>
            </p:cNvPr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42;p5">
              <a:extLst>
                <a:ext uri="{FF2B5EF4-FFF2-40B4-BE49-F238E27FC236}">
                  <a16:creationId xmlns:a16="http://schemas.microsoft.com/office/drawing/2014/main" id="{72557F84-14E3-85B5-B12A-B71FB2E2E22A}"/>
                </a:ext>
              </a:extLst>
            </p:cNvPr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43;p5">
              <a:extLst>
                <a:ext uri="{FF2B5EF4-FFF2-40B4-BE49-F238E27FC236}">
                  <a16:creationId xmlns:a16="http://schemas.microsoft.com/office/drawing/2014/main" id="{0D7E4583-AD19-5A88-E957-DE64E83B217D}"/>
                </a:ext>
              </a:extLst>
            </p:cNvPr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2362af273_0_51"/>
          <p:cNvSpPr txBox="1">
            <a:spLocks noGrp="1"/>
          </p:cNvSpPr>
          <p:nvPr>
            <p:ph type="title"/>
          </p:nvPr>
        </p:nvSpPr>
        <p:spPr>
          <a:xfrm>
            <a:off x="95300" y="62400"/>
            <a:ext cx="33996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 Scope</a:t>
            </a:r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137160" y="777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5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● AI improvements: migrate context-assembly grounding to full retrieval-augmented generation (RAG) via MongoDB vector search.</a:t>
            </a:r>
          </a:p>
          <a:p>
            <a:pPr>
              <a:lnSpc>
                <a:spcPct val="105000"/>
              </a:lnSpc>
              <a:spcAft>
                <a:spcPts val="55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● Native mobile application (React Native) with push notifications and camera-based evidence capture.</a:t>
            </a:r>
          </a:p>
          <a:p>
            <a:pPr>
              <a:lnSpc>
                <a:spcPct val="105000"/>
              </a:lnSpc>
              <a:spcAft>
                <a:spcPts val="55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● Full UI localization &amp; right-to-left layout for Arabic-speaking users, extending today's voice-level multilingual support.</a:t>
            </a:r>
          </a:p>
          <a:p>
            <a:pPr>
              <a:lnSpc>
                <a:spcPct val="105000"/>
              </a:lnSpc>
              <a:spcAft>
                <a:spcPts val="55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● Predictive analytics: forecast rental pricing, vacancy &amp; late-payment risk from accumulated booking/payment history.</a:t>
            </a:r>
          </a:p>
          <a:p>
            <a:pPr>
              <a:lnSpc>
                <a:spcPct val="105000"/>
              </a:lnSpc>
              <a:spcAft>
                <a:spcPts val="55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● Fault-tolerant analytics aggregation with independently-executed, gracefully-degrading queries.</a:t>
            </a:r>
          </a:p>
          <a:p>
            <a:pPr>
              <a:lnSpc>
                <a:spcPct val="105000"/>
              </a:lnSpc>
              <a:spcAft>
                <a:spcPts val="55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● IoT integration: smart locks &amp; meters for keyless viewing access and automated utility readings.</a:t>
            </a:r>
          </a:p>
        </p:txBody>
      </p:sp>
      <p:grpSp>
        <p:nvGrpSpPr>
          <p:cNvPr id="2" name="Google Shape;168;p6">
            <a:extLst>
              <a:ext uri="{FF2B5EF4-FFF2-40B4-BE49-F238E27FC236}">
                <a16:creationId xmlns:a16="http://schemas.microsoft.com/office/drawing/2014/main" id="{08072D51-79FD-0624-859E-E37CF27DAE4F}"/>
              </a:ext>
            </a:extLst>
          </p:cNvPr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3" name="Google Shape;169;p6">
              <a:extLst>
                <a:ext uri="{FF2B5EF4-FFF2-40B4-BE49-F238E27FC236}">
                  <a16:creationId xmlns:a16="http://schemas.microsoft.com/office/drawing/2014/main" id="{748ECB6A-2872-0122-C48C-057CF5335ED2}"/>
                </a:ext>
              </a:extLst>
            </p:cNvPr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" name="Google Shape;170;p6">
              <a:extLst>
                <a:ext uri="{FF2B5EF4-FFF2-40B4-BE49-F238E27FC236}">
                  <a16:creationId xmlns:a16="http://schemas.microsoft.com/office/drawing/2014/main" id="{003A91D9-A83F-0CA8-1F39-EE636DA68E7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oogle Shape;140;p5">
            <a:extLst>
              <a:ext uri="{FF2B5EF4-FFF2-40B4-BE49-F238E27FC236}">
                <a16:creationId xmlns:a16="http://schemas.microsoft.com/office/drawing/2014/main" id="{D5291ABE-611B-92AB-FBF9-3A234CA8B1AB}"/>
              </a:ext>
            </a:extLst>
          </p:cNvPr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6" name="Google Shape;141;p5">
              <a:extLst>
                <a:ext uri="{FF2B5EF4-FFF2-40B4-BE49-F238E27FC236}">
                  <a16:creationId xmlns:a16="http://schemas.microsoft.com/office/drawing/2014/main" id="{D296E634-89DA-E956-4715-09CA1A21E1B0}"/>
                </a:ext>
              </a:extLst>
            </p:cNvPr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42;p5">
              <a:extLst>
                <a:ext uri="{FF2B5EF4-FFF2-40B4-BE49-F238E27FC236}">
                  <a16:creationId xmlns:a16="http://schemas.microsoft.com/office/drawing/2014/main" id="{C037C2BE-B61C-4465-C7A8-BD1DFF208A78}"/>
                </a:ext>
              </a:extLst>
            </p:cNvPr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43;p5">
              <a:extLst>
                <a:ext uri="{FF2B5EF4-FFF2-40B4-BE49-F238E27FC236}">
                  <a16:creationId xmlns:a16="http://schemas.microsoft.com/office/drawing/2014/main" id="{291661F2-DF55-9ADD-0396-693AE61CC8EA}"/>
                </a:ext>
              </a:extLst>
            </p:cNvPr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"/>
          <p:cNvSpPr txBox="1">
            <a:spLocks noGrp="1"/>
          </p:cNvSpPr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References</a:t>
            </a:r>
            <a:endParaRPr/>
          </a:p>
        </p:txBody>
      </p:sp>
      <p:grpSp>
        <p:nvGrpSpPr>
          <p:cNvPr id="267" name="Google Shape;267;p9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268" name="Google Shape;268;p9"/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9" name="Google Shape;269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1" name="Google Shape;271;p9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272" name="Google Shape;272;p9"/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9"/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" name="Google Shape;275;p9"/>
          <p:cNvSpPr txBox="1">
            <a:spLocks noGrp="1"/>
          </p:cNvSpPr>
          <p:nvPr>
            <p:ph type="ftr" idx="11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276" name="Google Shape;276;p9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4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1" i="0" u="sng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Department of CSE</a:t>
            </a:r>
            <a:endParaRPr sz="6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7" name="Google Shape;277;p9"/>
          <p:cNvSpPr txBox="1">
            <a:spLocks noGrp="1"/>
          </p:cNvSpPr>
          <p:nvPr>
            <p:ph type="dt" idx="10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278" name="Google Shape;278;p9"/>
          <p:cNvSpPr txBox="1">
            <a:spLocks noGrp="1"/>
          </p:cNvSpPr>
          <p:nvPr>
            <p:ph type="sldNum" idx="12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21</a:t>
            </a:fld>
            <a:r>
              <a:rPr lang="en-US"/>
              <a:t> / 9</a:t>
            </a:r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137160" y="502920"/>
            <a:ext cx="5486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[1] B. Al-haimi, H. Khalid, N. H. Zakaria, and T. H. Jasimin, "Digital transformation in the real estate industry: A systematic literature review," Int. J. Inf. Manage. Data Insights, 2025.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[2] N. Bhat, R. Sharma, A. Kaushik, and T. Jain, "MERN stack unveiled: A research study on the technology's architecture and benefits," Tuijin Jishu/J. Propulsion Technol., vol. 44, no. 1, 2023.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[3] S. Meduri, "Revolutionizing customer service: The impact of large language models on chatbot performance," Int. J. Sci. Res. CSEIT, vol. 10, no. 5, pp. 721-730, 2024.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[4] L. Aldhafeeri et al., "Generative AI chatbots across domains: A systematic review," Appl. Sci. (MDPI), vol. 15, no. 20, 2025.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[5] X. Bowen, S. Jia, J. Lin, F. Zheng, et al., "JWTKey: Automatic cryptographic vulnerability detection in JWT applications," in Computer Security -- ESORICS 2023, Springer LNCS, 2023.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[6] B. Rexha et al., "Enhancing JWT authentication and authorization in web applications based on user behavior history," Information (MDPI), vol. 12, no. 4, 2023.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[7] OWASP Foundation, "OWASP API Security Top 10," 2023.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660" b="0" i="0">
                <a:solidFill>
                  <a:srgbClr val="1A1A1A"/>
                </a:solidFill>
                <a:latin typeface="Arial"/>
              </a:rPr>
              <a:t>[8] J. Urnikiene, V. Steponaviciene, and S. Atanasov, "Comparative read performance analysis of PostgreSQL and MongoDB in e-commerce," Big Data Cogn. Comput. (MDPI), vol. 10, no. 2, 2026.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"/>
          <p:cNvSpPr txBox="1">
            <a:spLocks noGrp="1"/>
          </p:cNvSpPr>
          <p:nvPr>
            <p:ph type="title"/>
          </p:nvPr>
        </p:nvSpPr>
        <p:spPr>
          <a:xfrm>
            <a:off x="95300" y="62405"/>
            <a:ext cx="1850389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References (contd.)</a:t>
            </a:r>
            <a:endParaRPr/>
          </a:p>
        </p:txBody>
      </p:sp>
      <p:grpSp>
        <p:nvGrpSpPr>
          <p:cNvPr id="267" name="Google Shape;267;p9"/>
          <p:cNvGrpSpPr/>
          <p:nvPr/>
        </p:nvGrpSpPr>
        <p:grpSpPr>
          <a:xfrm>
            <a:off x="5069715" y="23243"/>
            <a:ext cx="576580" cy="576580"/>
            <a:chOff x="5069715" y="23243"/>
            <a:chExt cx="576580" cy="576580"/>
          </a:xfrm>
        </p:grpSpPr>
        <p:sp>
          <p:nvSpPr>
            <p:cNvPr id="268" name="Google Shape;268;p9"/>
            <p:cNvSpPr/>
            <p:nvPr/>
          </p:nvSpPr>
          <p:spPr>
            <a:xfrm>
              <a:off x="5069715" y="23243"/>
              <a:ext cx="576580" cy="576580"/>
            </a:xfrm>
            <a:custGeom>
              <a:avLst/>
              <a:gdLst/>
              <a:ahLst/>
              <a:cxnLst/>
              <a:rect l="l" t="t" r="r" b="b"/>
              <a:pathLst>
                <a:path w="576579" h="576580" extrusionOk="0">
                  <a:moveTo>
                    <a:pt x="288004" y="0"/>
                  </a:moveTo>
                  <a:lnTo>
                    <a:pt x="241288" y="3769"/>
                  </a:lnTo>
                  <a:lnTo>
                    <a:pt x="196972" y="14682"/>
                  </a:lnTo>
                  <a:lnTo>
                    <a:pt x="155649" y="32146"/>
                  </a:lnTo>
                  <a:lnTo>
                    <a:pt x="117911" y="55567"/>
                  </a:lnTo>
                  <a:lnTo>
                    <a:pt x="84353" y="84353"/>
                  </a:lnTo>
                  <a:lnTo>
                    <a:pt x="55567" y="117912"/>
                  </a:lnTo>
                  <a:lnTo>
                    <a:pt x="32146" y="155649"/>
                  </a:lnTo>
                  <a:lnTo>
                    <a:pt x="14682" y="196972"/>
                  </a:lnTo>
                  <a:lnTo>
                    <a:pt x="3769" y="241288"/>
                  </a:lnTo>
                  <a:lnTo>
                    <a:pt x="0" y="288004"/>
                  </a:lnTo>
                  <a:lnTo>
                    <a:pt x="3769" y="334721"/>
                  </a:lnTo>
                  <a:lnTo>
                    <a:pt x="14682" y="379037"/>
                  </a:lnTo>
                  <a:lnTo>
                    <a:pt x="32146" y="420360"/>
                  </a:lnTo>
                  <a:lnTo>
                    <a:pt x="55567" y="458097"/>
                  </a:lnTo>
                  <a:lnTo>
                    <a:pt x="84353" y="491655"/>
                  </a:lnTo>
                  <a:lnTo>
                    <a:pt x="117911" y="520441"/>
                  </a:lnTo>
                  <a:lnTo>
                    <a:pt x="155649" y="543863"/>
                  </a:lnTo>
                  <a:lnTo>
                    <a:pt x="196972" y="561326"/>
                  </a:lnTo>
                  <a:lnTo>
                    <a:pt x="241288" y="572239"/>
                  </a:lnTo>
                  <a:lnTo>
                    <a:pt x="288004" y="576009"/>
                  </a:lnTo>
                  <a:lnTo>
                    <a:pt x="334720" y="572239"/>
                  </a:lnTo>
                  <a:lnTo>
                    <a:pt x="379037" y="561326"/>
                  </a:lnTo>
                  <a:lnTo>
                    <a:pt x="420360" y="543863"/>
                  </a:lnTo>
                  <a:lnTo>
                    <a:pt x="458097" y="520441"/>
                  </a:lnTo>
                  <a:lnTo>
                    <a:pt x="491655" y="491655"/>
                  </a:lnTo>
                  <a:lnTo>
                    <a:pt x="520441" y="458097"/>
                  </a:lnTo>
                  <a:lnTo>
                    <a:pt x="543863" y="420360"/>
                  </a:lnTo>
                  <a:lnTo>
                    <a:pt x="561326" y="379037"/>
                  </a:lnTo>
                  <a:lnTo>
                    <a:pt x="572239" y="334721"/>
                  </a:lnTo>
                  <a:lnTo>
                    <a:pt x="576009" y="288004"/>
                  </a:lnTo>
                  <a:lnTo>
                    <a:pt x="572239" y="241288"/>
                  </a:lnTo>
                  <a:lnTo>
                    <a:pt x="561326" y="196972"/>
                  </a:lnTo>
                  <a:lnTo>
                    <a:pt x="543863" y="155649"/>
                  </a:lnTo>
                  <a:lnTo>
                    <a:pt x="520441" y="117912"/>
                  </a:lnTo>
                  <a:lnTo>
                    <a:pt x="491655" y="84353"/>
                  </a:lnTo>
                  <a:lnTo>
                    <a:pt x="458097" y="55567"/>
                  </a:lnTo>
                  <a:lnTo>
                    <a:pt x="420360" y="32146"/>
                  </a:lnTo>
                  <a:lnTo>
                    <a:pt x="379037" y="14682"/>
                  </a:lnTo>
                  <a:lnTo>
                    <a:pt x="334720" y="3769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9" name="Google Shape;269;p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186654" y="77247"/>
              <a:ext cx="342006" cy="48151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1" name="Google Shape;271;p9"/>
          <p:cNvGrpSpPr/>
          <p:nvPr/>
        </p:nvGrpSpPr>
        <p:grpSpPr>
          <a:xfrm>
            <a:off x="0" y="3133775"/>
            <a:ext cx="5760185" cy="106680"/>
            <a:chOff x="0" y="3133775"/>
            <a:chExt cx="5760185" cy="106680"/>
          </a:xfrm>
        </p:grpSpPr>
        <p:sp>
          <p:nvSpPr>
            <p:cNvPr id="272" name="Google Shape;272;p9"/>
            <p:cNvSpPr/>
            <p:nvPr/>
          </p:nvSpPr>
          <p:spPr>
            <a:xfrm>
              <a:off x="0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9"/>
            <p:cNvSpPr/>
            <p:nvPr/>
          </p:nvSpPr>
          <p:spPr>
            <a:xfrm>
              <a:off x="1919973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3839946" y="3133775"/>
              <a:ext cx="1920239" cy="106680"/>
            </a:xfrm>
            <a:custGeom>
              <a:avLst/>
              <a:gdLst/>
              <a:ahLst/>
              <a:cxnLst/>
              <a:rect l="l" t="t" r="r" b="b"/>
              <a:pathLst>
                <a:path w="1920239" h="106680" extrusionOk="0">
                  <a:moveTo>
                    <a:pt x="1919973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919973" y="106222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" name="Google Shape;275;p9"/>
          <p:cNvSpPr txBox="1">
            <a:spLocks noGrp="1"/>
          </p:cNvSpPr>
          <p:nvPr>
            <p:ph type="ftr" idx="11"/>
          </p:nvPr>
        </p:nvSpPr>
        <p:spPr>
          <a:xfrm>
            <a:off x="755319" y="3109203"/>
            <a:ext cx="409575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Batch No</a:t>
            </a:r>
            <a:endParaRPr/>
          </a:p>
        </p:txBody>
      </p:sp>
      <p:sp>
        <p:nvSpPr>
          <p:cNvPr id="276" name="Google Shape;276;p9"/>
          <p:cNvSpPr txBox="1"/>
          <p:nvPr/>
        </p:nvSpPr>
        <p:spPr>
          <a:xfrm>
            <a:off x="2411158" y="3107609"/>
            <a:ext cx="937894" cy="1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4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1" i="0" u="sng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Department of CSE</a:t>
            </a:r>
            <a:endParaRPr sz="600" b="0" i="0" u="none" strike="noStrike" cap="non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7" name="Google Shape;277;p9"/>
          <p:cNvSpPr txBox="1">
            <a:spLocks noGrp="1"/>
          </p:cNvSpPr>
          <p:nvPr>
            <p:ph type="dt" idx="10"/>
          </p:nvPr>
        </p:nvSpPr>
        <p:spPr>
          <a:xfrm>
            <a:off x="4315459" y="3109203"/>
            <a:ext cx="798829" cy="11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November 21, 2025</a:t>
            </a:r>
            <a:endParaRPr/>
          </a:p>
        </p:txBody>
      </p:sp>
      <p:sp>
        <p:nvSpPr>
          <p:cNvPr id="278" name="Google Shape;278;p9"/>
          <p:cNvSpPr txBox="1">
            <a:spLocks noGrp="1"/>
          </p:cNvSpPr>
          <p:nvPr>
            <p:ph type="sldNum" idx="12"/>
          </p:nvPr>
        </p:nvSpPr>
        <p:spPr>
          <a:xfrm>
            <a:off x="5486291" y="3109203"/>
            <a:ext cx="220979" cy="13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/>
              <a:t>22</a:t>
            </a:fld>
            <a:r>
              <a:rPr lang="en-US"/>
              <a:t> / 9</a:t>
            </a:r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137160" y="502920"/>
            <a:ext cx="54864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690" b="0" i="0">
                <a:solidFill>
                  <a:srgbClr val="1A1A1A"/>
                </a:solidFill>
                <a:latin typeface="Arial"/>
              </a:rPr>
              <a:t>[9] A. O. Adediran, A. M. Aini, and S. M. Ajibade, "Adoption of artificial intelligence in property management transactions," Property Manage., vol. 44, no. 2, 2025.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690" b="0" i="0">
                <a:solidFill>
                  <a:srgbClr val="1A1A1A"/>
                </a:solidFill>
                <a:latin typeface="Arial"/>
              </a:rPr>
              <a:t>[10] J. Swacha and M. Gracel, "Retrieval-augmented generation (RAG) chatbots for education: A survey of applications," Appl. Sci. (MDPI), vol. 15, no. 8, 2025.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690" b="0" i="0">
                <a:solidFill>
                  <a:srgbClr val="1A1A1A"/>
                </a:solidFill>
                <a:latin typeface="Arial"/>
              </a:rPr>
              <a:t>[11] Deepak and S. Sheoran, "Vector search in large language models: Experimental evaluation with MongoDB Atlas," J. Cybersecurity Inf. Manage., vol. 17, no. 2, 2026.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690" b="0" i="0">
                <a:solidFill>
                  <a:srgbClr val="1A1A1A"/>
                </a:solidFill>
                <a:latin typeface="Arial"/>
              </a:rPr>
              <a:t>[12] G. Kumar, D. Kumar, and R. Yadav, "Performance optimization in MERN stack applications," Int. J. Res. Publication Rev., vol. 6, no. 5, 2025.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690" b="0" i="0">
                <a:solidFill>
                  <a:srgbClr val="1A1A1A"/>
                </a:solidFill>
                <a:latin typeface="Arial"/>
              </a:rPr>
              <a:t>[13] S. Sabharwal and R. Sahni, "Tackling the problem of multilingualism in voice assistants," Int. J. Electr. Electron. Comput., vol. 9, no. 5, 2024.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690" b="0" i="0">
                <a:solidFill>
                  <a:srgbClr val="1A1A1A"/>
                </a:solidFill>
                <a:latin typeface="Arial"/>
              </a:rPr>
              <a:t>[14] K. Pinniboyina, "Multi-language voice assistant system using Web Speech API," Int. J. Sci. Eng. Technol., vol. 13, no. 4, 2024.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690" b="0" i="0">
                <a:solidFill>
                  <a:srgbClr val="1A1A1A"/>
                </a:solidFill>
                <a:latin typeface="Arial"/>
              </a:rPr>
              <a:t>[15] A. Khamaj, "AI-enhanced chatbot for improving healthcare usability and accessibility for older adults," Ain Shams Eng. J., vol. 116,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2863</Words>
  <Application>Microsoft Office PowerPoint</Application>
  <PresentationFormat>Custom</PresentationFormat>
  <Paragraphs>314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Georgia</vt:lpstr>
      <vt:lpstr>Times New Roman</vt:lpstr>
      <vt:lpstr>Office Theme</vt:lpstr>
      <vt:lpstr>Property Management Application using Power BI</vt:lpstr>
      <vt:lpstr>Table of Content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Experimental Results</vt:lpstr>
      <vt:lpstr>Result Analysis</vt:lpstr>
      <vt:lpstr>Conclusion</vt:lpstr>
      <vt:lpstr>Future Scope</vt:lpstr>
      <vt:lpstr>References</vt:lpstr>
      <vt:lpstr>References (contd.)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Author 1, Author 2, Author 3</dc:creator>
  <cp:lastModifiedBy>ashritha duppati</cp:lastModifiedBy>
  <cp:revision>1</cp:revision>
  <dcterms:created xsi:type="dcterms:W3CDTF">2025-11-19T14:26:28Z</dcterms:created>
  <dcterms:modified xsi:type="dcterms:W3CDTF">2026-07-23T10:59:55Z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2025-11-19T00:00:00Z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