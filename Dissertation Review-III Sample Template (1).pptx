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3244850" cx="5765800"/>
  <p:notesSz cx="5765800" cy="3244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gKYwkWtpa+tUZBpjC+eo46yTq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9942AF-D573-48A4-88CD-0C3B0F94A23A}">
  <a:tblStyle styleId="{7B9942AF-D573-48A4-88CD-0C3B0F94A2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362af273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2362af273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362af273_0_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2362af273_0_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362af273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2362af273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2362af273_0_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2362af273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362af273_0_1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2362af273_0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2362af273_0_2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2362af273_0_2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2362af273_0_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2362af273_0_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2362af273_0_2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2362af273_0_2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2362af273_0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2362af273_0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2362af273_0_4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2362af273_0_4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2362af273_0_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2362af273_0_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1371739" y="1098497"/>
            <a:ext cx="3016885" cy="11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4191217" y="3049002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4111599" y="3045040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0"/>
          <p:cNvSpPr/>
          <p:nvPr/>
        </p:nvSpPr>
        <p:spPr>
          <a:xfrm>
            <a:off x="4289402" y="3045040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0"/>
          <p:cNvSpPr/>
          <p:nvPr/>
        </p:nvSpPr>
        <p:spPr>
          <a:xfrm>
            <a:off x="4451717" y="3038690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0"/>
          <p:cNvSpPr/>
          <p:nvPr/>
        </p:nvSpPr>
        <p:spPr>
          <a:xfrm>
            <a:off x="4388548" y="3045040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>
            <a:off x="4754398" y="3051390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/>
          <p:nvPr/>
        </p:nvSpPr>
        <p:spPr>
          <a:xfrm>
            <a:off x="4665497" y="3045040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"/>
          <p:cNvSpPr/>
          <p:nvPr/>
        </p:nvSpPr>
        <p:spPr>
          <a:xfrm>
            <a:off x="4741698" y="3038690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5018647" y="3038690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4942446" y="3045040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/>
          <p:nvPr/>
        </p:nvSpPr>
        <p:spPr>
          <a:xfrm>
            <a:off x="5018647" y="3076790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5295596" y="3038690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/>
          <p:nvPr/>
        </p:nvSpPr>
        <p:spPr>
          <a:xfrm>
            <a:off x="5603025" y="3069170"/>
            <a:ext cx="20320" cy="20320"/>
          </a:xfrm>
          <a:custGeom>
            <a:rect b="b" l="l" r="r" t="t"/>
            <a:pathLst>
              <a:path extrusionOk="0" h="20319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5575961" y="3042675"/>
            <a:ext cx="30480" cy="30480"/>
          </a:xfrm>
          <a:custGeom>
            <a:rect b="b" l="l" r="r" t="t"/>
            <a:pathLst>
              <a:path extrusionOk="0" h="30480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5481104" y="3038690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/>
          <p:nvPr/>
        </p:nvSpPr>
        <p:spPr>
          <a:xfrm>
            <a:off x="0" y="0"/>
            <a:ext cx="5760085" cy="355600"/>
          </a:xfrm>
          <a:custGeom>
            <a:rect b="b" l="l" r="r" t="t"/>
            <a:pathLst>
              <a:path extrusionOk="0" h="355600" w="5760085">
                <a:moveTo>
                  <a:pt x="5759996" y="0"/>
                </a:moveTo>
                <a:lnTo>
                  <a:pt x="0" y="0"/>
                </a:lnTo>
                <a:lnTo>
                  <a:pt x="0" y="355180"/>
                </a:lnTo>
                <a:lnTo>
                  <a:pt x="5759996" y="355180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0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1371739" y="1098497"/>
            <a:ext cx="3016885" cy="11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3" Type="http://schemas.openxmlformats.org/officeDocument/2006/relationships/slide" Target="/ppt/slides/slide14.xml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" Target="/ppt/slides/slide8.xml"/><Relationship Id="rId15" Type="http://schemas.openxmlformats.org/officeDocument/2006/relationships/slide" Target="/ppt/slides/slide19.xml"/><Relationship Id="rId14" Type="http://schemas.openxmlformats.org/officeDocument/2006/relationships/slide" Target="/ppt/slides/slide19.xml"/><Relationship Id="rId16" Type="http://schemas.openxmlformats.org/officeDocument/2006/relationships/slide" Target="/ppt/slides/slide1.xml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/ppt/slides/slide3.xml"/><Relationship Id="rId8" Type="http://schemas.openxmlformats.org/officeDocument/2006/relationships/slide" Target="/ppt/slides/slide4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slide" Target="/ppt/slides/slide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slide" Target="/ppt/slides/slide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slide" Target="/ppt/slides/slide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slide" Target="/ppt/slides/slide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slide" Target="/ppt/slides/slide1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slide" Target="/ppt/slides/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"/>
          <p:cNvGrpSpPr/>
          <p:nvPr/>
        </p:nvGrpSpPr>
        <p:grpSpPr>
          <a:xfrm>
            <a:off x="86855" y="573858"/>
            <a:ext cx="5637531" cy="492523"/>
            <a:chOff x="86854" y="444334"/>
            <a:chExt cx="5637531" cy="492523"/>
          </a:xfrm>
        </p:grpSpPr>
        <p:sp>
          <p:nvSpPr>
            <p:cNvPr id="60" name="Google Shape;60;p1"/>
            <p:cNvSpPr/>
            <p:nvPr/>
          </p:nvSpPr>
          <p:spPr>
            <a:xfrm>
              <a:off x="86854" y="444334"/>
              <a:ext cx="5586730" cy="82550"/>
            </a:xfrm>
            <a:custGeom>
              <a:rect b="b" l="l" r="r" t="t"/>
              <a:pathLst>
                <a:path extrusionOk="0" h="82550" w="5586730">
                  <a:moveTo>
                    <a:pt x="553555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6351" y="82384"/>
                  </a:lnTo>
                  <a:lnTo>
                    <a:pt x="5586351" y="50800"/>
                  </a:lnTo>
                  <a:lnTo>
                    <a:pt x="5582343" y="31075"/>
                  </a:lnTo>
                  <a:lnTo>
                    <a:pt x="5571428" y="14922"/>
                  </a:lnTo>
                  <a:lnTo>
                    <a:pt x="5555275" y="4008"/>
                  </a:lnTo>
                  <a:lnTo>
                    <a:pt x="553555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37655" y="507598"/>
              <a:ext cx="5586730" cy="429259"/>
            </a:xfrm>
            <a:custGeom>
              <a:rect b="b" l="l" r="r" t="t"/>
              <a:pathLst>
                <a:path extrusionOk="0" h="429259" w="5586730">
                  <a:moveTo>
                    <a:pt x="5586351" y="0"/>
                  </a:moveTo>
                  <a:lnTo>
                    <a:pt x="0" y="0"/>
                  </a:lnTo>
                  <a:lnTo>
                    <a:pt x="0" y="428710"/>
                  </a:lnTo>
                  <a:lnTo>
                    <a:pt x="5586351" y="428710"/>
                  </a:lnTo>
                  <a:lnTo>
                    <a:pt x="55863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6854" y="488761"/>
              <a:ext cx="5586730" cy="396875"/>
            </a:xfrm>
            <a:custGeom>
              <a:rect b="b" l="l" r="r" t="t"/>
              <a:pathLst>
                <a:path extrusionOk="0" h="396875" w="5586730">
                  <a:moveTo>
                    <a:pt x="5586351" y="0"/>
                  </a:moveTo>
                  <a:lnTo>
                    <a:pt x="0" y="0"/>
                  </a:lnTo>
                  <a:lnTo>
                    <a:pt x="0" y="345945"/>
                  </a:lnTo>
                  <a:lnTo>
                    <a:pt x="4008" y="365670"/>
                  </a:lnTo>
                  <a:lnTo>
                    <a:pt x="14922" y="381823"/>
                  </a:lnTo>
                  <a:lnTo>
                    <a:pt x="31075" y="392737"/>
                  </a:lnTo>
                  <a:lnTo>
                    <a:pt x="50800" y="396746"/>
                  </a:lnTo>
                  <a:lnTo>
                    <a:pt x="5535550" y="396746"/>
                  </a:lnTo>
                  <a:lnTo>
                    <a:pt x="5555275" y="392737"/>
                  </a:lnTo>
                  <a:lnTo>
                    <a:pt x="5571428" y="381823"/>
                  </a:lnTo>
                  <a:lnTo>
                    <a:pt x="5582343" y="365670"/>
                  </a:lnTo>
                  <a:lnTo>
                    <a:pt x="5586351" y="345945"/>
                  </a:lnTo>
                  <a:lnTo>
                    <a:pt x="5586351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"/>
          <p:cNvSpPr txBox="1"/>
          <p:nvPr>
            <p:ph type="title"/>
          </p:nvPr>
        </p:nvSpPr>
        <p:spPr>
          <a:xfrm>
            <a:off x="137655" y="507598"/>
            <a:ext cx="5586730" cy="269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2307925" y="2765488"/>
            <a:ext cx="1180465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Date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4090493" y="3180536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4010876" y="3176574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188678" y="3176574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"/>
          <p:cNvGrpSpPr/>
          <p:nvPr/>
        </p:nvGrpSpPr>
        <p:grpSpPr>
          <a:xfrm>
            <a:off x="4310113" y="3170224"/>
            <a:ext cx="203200" cy="50800"/>
            <a:chOff x="4310113" y="3170224"/>
            <a:chExt cx="203200" cy="50800"/>
          </a:xfrm>
        </p:grpSpPr>
        <p:sp>
          <p:nvSpPr>
            <p:cNvPr id="69" name="Google Shape;69;p1"/>
            <p:cNvSpPr/>
            <p:nvPr/>
          </p:nvSpPr>
          <p:spPr>
            <a:xfrm>
              <a:off x="4373282" y="3170224"/>
              <a:ext cx="64135" cy="50800"/>
            </a:xfrm>
            <a:custGeom>
              <a:rect b="b" l="l" r="r" t="t"/>
              <a:pathLst>
                <a:path extrusionOk="0" h="50800" w="64135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extrusionOk="0" h="50800" w="64135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extrusionOk="0" h="50800" w="64135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310113" y="3176574"/>
              <a:ext cx="203200" cy="38100"/>
            </a:xfrm>
            <a:custGeom>
              <a:rect b="b" l="l" r="r" t="t"/>
              <a:pathLst>
                <a:path extrusionOk="0" h="38100" w="2032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extrusionOk="0" h="38100" w="2032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"/>
          <p:cNvGrpSpPr/>
          <p:nvPr/>
        </p:nvGrpSpPr>
        <p:grpSpPr>
          <a:xfrm>
            <a:off x="4609350" y="3170224"/>
            <a:ext cx="203200" cy="50800"/>
            <a:chOff x="4609350" y="3170224"/>
            <a:chExt cx="203200" cy="50800"/>
          </a:xfrm>
        </p:grpSpPr>
        <p:sp>
          <p:nvSpPr>
            <p:cNvPr id="72" name="Google Shape;72;p1"/>
            <p:cNvSpPr/>
            <p:nvPr/>
          </p:nvSpPr>
          <p:spPr>
            <a:xfrm>
              <a:off x="4698251" y="3182924"/>
              <a:ext cx="38100" cy="0"/>
            </a:xfrm>
            <a:custGeom>
              <a:rect b="b" l="l" r="r" t="t"/>
              <a:pathLst>
                <a:path extrusionOk="0" h="120000"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609350" y="3176574"/>
              <a:ext cx="203200" cy="38100"/>
            </a:xfrm>
            <a:custGeom>
              <a:rect b="b" l="l" r="r" t="t"/>
              <a:pathLst>
                <a:path extrusionOk="0" h="38100" w="2032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extrusionOk="0" h="38100" w="2032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685551" y="3170224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0" y="0"/>
                  </a:moveTo>
                  <a:lnTo>
                    <a:pt x="38100" y="0"/>
                  </a:lnTo>
                </a:path>
                <a:path extrusionOk="0" h="50800" w="50800">
                  <a:moveTo>
                    <a:pt x="12700" y="25400"/>
                  </a:moveTo>
                  <a:lnTo>
                    <a:pt x="50800" y="25400"/>
                  </a:lnTo>
                </a:path>
                <a:path extrusionOk="0" h="50800" w="50800">
                  <a:moveTo>
                    <a:pt x="0" y="38100"/>
                  </a:moveTo>
                  <a:lnTo>
                    <a:pt x="38100" y="38100"/>
                  </a:lnTo>
                </a:path>
                <a:path extrusionOk="0" h="50800" w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noFill/>
            <a:ln cap="flat" cmpd="sng" w="9525">
              <a:solidFill>
                <a:srgbClr val="D6D6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"/>
          <p:cNvGrpSpPr/>
          <p:nvPr/>
        </p:nvGrpSpPr>
        <p:grpSpPr>
          <a:xfrm>
            <a:off x="4908575" y="3170224"/>
            <a:ext cx="203200" cy="50800"/>
            <a:chOff x="4908575" y="3170224"/>
            <a:chExt cx="203200" cy="50800"/>
          </a:xfrm>
        </p:grpSpPr>
        <p:sp>
          <p:nvSpPr>
            <p:cNvPr id="76" name="Google Shape;76;p1"/>
            <p:cNvSpPr/>
            <p:nvPr/>
          </p:nvSpPr>
          <p:spPr>
            <a:xfrm>
              <a:off x="4984776" y="3170224"/>
              <a:ext cx="50800" cy="25400"/>
            </a:xfrm>
            <a:custGeom>
              <a:rect b="b" l="l" r="r" t="t"/>
              <a:pathLst>
                <a:path extrusionOk="0" h="25400" w="50800">
                  <a:moveTo>
                    <a:pt x="0" y="0"/>
                  </a:moveTo>
                  <a:lnTo>
                    <a:pt x="38100" y="0"/>
                  </a:lnTo>
                </a:path>
                <a:path extrusionOk="0" h="25400" w="50800">
                  <a:moveTo>
                    <a:pt x="12700" y="12700"/>
                  </a:moveTo>
                  <a:lnTo>
                    <a:pt x="50800" y="12700"/>
                  </a:lnTo>
                </a:path>
                <a:path extrusionOk="0" h="25400" w="508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4908575" y="3176574"/>
              <a:ext cx="203200" cy="38100"/>
            </a:xfrm>
            <a:custGeom>
              <a:rect b="b" l="l" r="r" t="t"/>
              <a:pathLst>
                <a:path extrusionOk="0" h="38100" w="2032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extrusionOk="0" h="38100" w="2032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984776" y="3208324"/>
              <a:ext cx="50800" cy="12700"/>
            </a:xfrm>
            <a:custGeom>
              <a:rect b="b" l="l" r="r" t="t"/>
              <a:pathLst>
                <a:path extrusionOk="0" h="12700" w="50800">
                  <a:moveTo>
                    <a:pt x="0" y="0"/>
                  </a:moveTo>
                  <a:lnTo>
                    <a:pt x="38100" y="0"/>
                  </a:lnTo>
                </a:path>
                <a:path extrusionOk="0" h="12700" w="508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noFill/>
            <a:ln cap="flat" cmpd="sng" w="9525">
              <a:solidFill>
                <a:srgbClr val="D6D6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"/>
          <p:cNvSpPr/>
          <p:nvPr/>
        </p:nvSpPr>
        <p:spPr>
          <a:xfrm>
            <a:off x="5284013" y="3170224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"/>
          <p:cNvGrpSpPr/>
          <p:nvPr/>
        </p:nvGrpSpPr>
        <p:grpSpPr>
          <a:xfrm>
            <a:off x="5491797" y="3170224"/>
            <a:ext cx="233679" cy="50800"/>
            <a:chOff x="5491797" y="3170224"/>
            <a:chExt cx="233679" cy="50800"/>
          </a:xfrm>
        </p:grpSpPr>
        <p:sp>
          <p:nvSpPr>
            <p:cNvPr id="81" name="Google Shape;81;p1"/>
            <p:cNvSpPr/>
            <p:nvPr/>
          </p:nvSpPr>
          <p:spPr>
            <a:xfrm>
              <a:off x="5613718" y="3200704"/>
              <a:ext cx="20320" cy="20320"/>
            </a:xfrm>
            <a:custGeom>
              <a:rect b="b" l="l" r="r" t="t"/>
              <a:pathLst>
                <a:path extrusionOk="0" h="20319" w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586654" y="3174209"/>
              <a:ext cx="30480" cy="30480"/>
            </a:xfrm>
            <a:custGeom>
              <a:rect b="b" l="l" r="r" t="t"/>
              <a:pathLst>
                <a:path extrusionOk="0" h="30480" w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491797" y="3170224"/>
              <a:ext cx="233679" cy="50800"/>
            </a:xfrm>
            <a:custGeom>
              <a:rect b="b" l="l" r="r" t="t"/>
              <a:pathLst>
                <a:path extrusionOk="0" h="50800" w="233679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extrusionOk="0" h="50800" w="233679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extrusionOk="0" h="50800" w="233679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extrusionOk="0" h="50800" w="233679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>
            <a:off x="2044700" y="1161449"/>
            <a:ext cx="1524000" cy="439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Ms. XYZ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&lt;&lt;Roll No.&gt;&gt;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55700" y="1686598"/>
            <a:ext cx="3403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&lt;&lt;Guide Name&gt;&gt;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&lt;&lt;Designation&gt;&gt;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</a:t>
            </a:r>
            <a:r>
              <a:rPr b="1" lang="en-US" sz="800">
                <a:latin typeface="Georgia"/>
                <a:ea typeface="Georgia"/>
                <a:cs typeface="Georgia"/>
                <a:sym typeface="Georgia"/>
              </a:rPr>
              <a:t>artment</a:t>
            </a: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BVRIT HYDERABAD College of Engineering for Women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5069715" y="23243"/>
            <a:ext cx="576579" cy="576580"/>
            <a:chOff x="5069715" y="23243"/>
            <a:chExt cx="576579" cy="576580"/>
          </a:xfrm>
        </p:grpSpPr>
        <p:sp>
          <p:nvSpPr>
            <p:cNvPr id="87" name="Google Shape;87;p1"/>
            <p:cNvSpPr/>
            <p:nvPr/>
          </p:nvSpPr>
          <p:spPr>
            <a:xfrm>
              <a:off x="5069715" y="23243"/>
              <a:ext cx="576579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95" name="Google Shape;95;p2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41" y="873404"/>
            <a:ext cx="155092" cy="15509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127901" y="869656"/>
            <a:ext cx="7937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EAEAF7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941" y="1209497"/>
            <a:ext cx="155092" cy="15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27901" y="1205736"/>
            <a:ext cx="7937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EAEAF7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41" y="1545577"/>
            <a:ext cx="155092" cy="15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27901" y="841462"/>
            <a:ext cx="12813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733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Abstract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33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33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baseline="30000" i="0" lang="en-US" sz="1200" u="none" cap="none" strike="noStrike">
                <a:solidFill>
                  <a:srgbClr val="EAEAF7"/>
                </a:solidFill>
                <a:latin typeface="Trebuchet MS"/>
                <a:ea typeface="Trebuchet MS"/>
                <a:cs typeface="Trebuchet MS"/>
                <a:sym typeface="Trebuchet MS"/>
              </a:rPr>
              <a:t>3    </a:t>
            </a:r>
            <a:r>
              <a:rPr b="0" i="0" lang="en-US" sz="1100" u="sng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Literature Review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941" y="1881670"/>
            <a:ext cx="155092" cy="155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941" y="2217750"/>
            <a:ext cx="155092" cy="155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41" y="2553830"/>
            <a:ext cx="155092" cy="15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27901" y="1849715"/>
            <a:ext cx="12777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587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EAF7"/>
              </a:buClr>
              <a:buSzPts val="800"/>
              <a:buFont typeface="Trebuchet MS"/>
              <a:buAutoNum type="arabicPlain" startAt="4"/>
            </a:pPr>
            <a:r>
              <a:rPr b="0" i="0" lang="en-US" sz="1100" u="sng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Technology stacks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EAEAF7"/>
              </a:buClr>
              <a:buSzPts val="1100"/>
              <a:buFont typeface="Trebuchet MS"/>
              <a:buNone/>
            </a:pPr>
            <a:r>
              <a:t/>
            </a:r>
            <a:endParaRPr b="0" i="0" sz="1100" u="sng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EAF7"/>
              </a:buClr>
              <a:buSzPts val="800"/>
              <a:buFont typeface="Trebuchet MS"/>
              <a:buAutoNum type="arabicPlain" startAt="4"/>
            </a:pPr>
            <a:r>
              <a:rPr b="0" i="0" lang="en-US" sz="1100" u="sng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of Action</a:t>
            </a:r>
            <a:r>
              <a:rPr b="0" i="0" lang="en-US" sz="1100" u="sng" cap="none" strike="noStrike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100" u="sng" cap="none" strike="noStrike">
              <a:solidFill>
                <a:srgbClr val="3660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EAF7"/>
              </a:buClr>
              <a:buSzPts val="800"/>
              <a:buFont typeface="Trebuchet MS"/>
              <a:buNone/>
            </a:pPr>
            <a:r>
              <a:t/>
            </a:r>
            <a:endParaRPr b="0" i="0" sz="1100" u="sng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100" u="sng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References</a:t>
            </a:r>
            <a:endParaRPr b="0" i="0" sz="11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15"/>
              </a:rPr>
              <a:t>  </a:t>
            </a:r>
            <a:endParaRPr b="0" i="0" sz="11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Abstract</a:t>
            </a:r>
            <a:endParaRPr/>
          </a:p>
        </p:txBody>
      </p:sp>
      <p:grpSp>
        <p:nvGrpSpPr>
          <p:cNvPr id="120" name="Google Shape;120;p3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21" name="Google Shape;121;p3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3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3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92100" y="778804"/>
            <a:ext cx="523656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7" name="Google Shape;137;p5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38" name="Google Shape;138;p5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5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41" name="Google Shape;141;p5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5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5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47" name="Google Shape;147;p5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362af273_0_0"/>
          <p:cNvSpPr txBox="1"/>
          <p:nvPr/>
        </p:nvSpPr>
        <p:spPr>
          <a:xfrm>
            <a:off x="95300" y="62400"/>
            <a:ext cx="1963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362af273_0_4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362af273_0_8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Scope of Work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/>
        </p:nvSpPr>
        <p:spPr>
          <a:xfrm>
            <a:off x="95300" y="62400"/>
            <a:ext cx="2191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69" name="Google Shape;169;p6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" name="Google Shape;17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6"/>
          <p:cNvSpPr txBox="1"/>
          <p:nvPr/>
        </p:nvSpPr>
        <p:spPr>
          <a:xfrm>
            <a:off x="1919972" y="469861"/>
            <a:ext cx="1572527" cy="166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2" name="Google Shape;172;p6"/>
          <p:cNvGraphicFramePr/>
          <p:nvPr/>
        </p:nvGraphicFramePr>
        <p:xfrm>
          <a:off x="139700" y="698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{7B9942AF-D573-48A4-88CD-0C3B0F94A23A}</a:tableStyleId>
              </a:tblPr>
              <a:tblGrid>
                <a:gridCol w="425200"/>
                <a:gridCol w="1006375"/>
                <a:gridCol w="1275400"/>
                <a:gridCol w="1275400"/>
                <a:gridCol w="1275400"/>
              </a:tblGrid>
              <a:tr h="3216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S.No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Paper Title (Year)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Journal/Conference Details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Methodology / Techniques Used</a:t>
                      </a:r>
                      <a:endParaRPr b="1"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Limitation</a:t>
                      </a:r>
                      <a:endParaRPr b="1"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88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D1B1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just">
                        <a:lnSpc>
                          <a:spcPct val="9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just">
                        <a:lnSpc>
                          <a:spcPct val="9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just">
                        <a:lnSpc>
                          <a:spcPct val="9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3" name="Google Shape;173;p6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74" name="Google Shape;174;p6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6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6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80" name="Google Shape;180;p6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2362af273_0_12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Research Gaps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2362af273_0_16"/>
          <p:cNvSpPr txBox="1"/>
          <p:nvPr/>
        </p:nvSpPr>
        <p:spPr>
          <a:xfrm>
            <a:off x="95300" y="62400"/>
            <a:ext cx="3471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Existing Systems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362af273_0_20"/>
          <p:cNvSpPr txBox="1"/>
          <p:nvPr/>
        </p:nvSpPr>
        <p:spPr>
          <a:xfrm>
            <a:off x="95300" y="62400"/>
            <a:ext cx="2518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Proposed System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2362af273_0_24"/>
          <p:cNvSpPr txBox="1"/>
          <p:nvPr/>
        </p:nvSpPr>
        <p:spPr>
          <a:xfrm>
            <a:off x="95300" y="62400"/>
            <a:ext cx="23091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2362af273_0_28"/>
          <p:cNvSpPr txBox="1"/>
          <p:nvPr/>
        </p:nvSpPr>
        <p:spPr>
          <a:xfrm>
            <a:off x="95300" y="62400"/>
            <a:ext cx="3366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Methodology / Algorithms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95300" y="62400"/>
            <a:ext cx="3481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Tools &amp; Technology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12" name="Google Shape;212;p7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7"/>
          <p:cNvSpPr/>
          <p:nvPr/>
        </p:nvSpPr>
        <p:spPr>
          <a:xfrm>
            <a:off x="72333" y="605009"/>
            <a:ext cx="5586730" cy="196850"/>
          </a:xfrm>
          <a:custGeom>
            <a:rect b="b" l="l" r="r" t="t"/>
            <a:pathLst>
              <a:path extrusionOk="0" h="196850" w="558673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737"/>
                </a:lnTo>
                <a:lnTo>
                  <a:pt x="5586351" y="196737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Packages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37655" y="1028457"/>
            <a:ext cx="670560" cy="21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Packages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6854" y="1853005"/>
            <a:ext cx="5586730" cy="186690"/>
          </a:xfrm>
          <a:custGeom>
            <a:rect b="b" l="l" r="r" t="t"/>
            <a:pathLst>
              <a:path extrusionOk="0" h="186689" w="558673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94"/>
                </a:lnTo>
                <a:lnTo>
                  <a:pt x="5586351" y="186194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44175" y="1822275"/>
            <a:ext cx="12156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Libraries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65549" y="2073262"/>
            <a:ext cx="5586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600">
            <a:spAutoFit/>
          </a:bodyPr>
          <a:lstStyle/>
          <a:p>
            <a:pPr indent="-175895" lvl="0" marL="275590" marR="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20" name="Google Shape;220;p7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7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7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graphicFrame>
        <p:nvGraphicFramePr>
          <p:cNvPr id="227" name="Google Shape;227;p7"/>
          <p:cNvGraphicFramePr/>
          <p:nvPr/>
        </p:nvGraphicFramePr>
        <p:xfrm>
          <a:off x="215899" y="8250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{7B9942AF-D573-48A4-88CD-0C3B0F94A23A}</a:tableStyleId>
              </a:tblPr>
              <a:tblGrid>
                <a:gridCol w="1361025"/>
                <a:gridCol w="1361025"/>
                <a:gridCol w="1361025"/>
              </a:tblGrid>
              <a:tr h="2739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</a:t>
                      </a: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andas 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numpy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beautifulsoup4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32295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xgboost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lime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matplotlib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  <a:tr h="32295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transformers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scikit-learn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lightbgm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/>
          <p:nvPr>
            <p:ph type="title"/>
          </p:nvPr>
        </p:nvSpPr>
        <p:spPr>
          <a:xfrm>
            <a:off x="95300" y="62400"/>
            <a:ext cx="3066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Dataset Characteristics</a:t>
            </a:r>
            <a:endParaRPr/>
          </a:p>
        </p:txBody>
      </p:sp>
      <p:grpSp>
        <p:nvGrpSpPr>
          <p:cNvPr id="233" name="Google Shape;233;p8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34" name="Google Shape;234;p8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8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37" name="Google Shape;237;p8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8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8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43" name="Google Shape;243;p8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2362af273_0_46"/>
          <p:cNvSpPr txBox="1"/>
          <p:nvPr>
            <p:ph type="title"/>
          </p:nvPr>
        </p:nvSpPr>
        <p:spPr>
          <a:xfrm>
            <a:off x="95300" y="62400"/>
            <a:ext cx="3588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r>
              <a:rPr lang="en-US"/>
              <a:t> Details</a:t>
            </a:r>
            <a:endParaRPr/>
          </a:p>
        </p:txBody>
      </p:sp>
      <p:sp>
        <p:nvSpPr>
          <p:cNvPr id="249" name="Google Shape;249;g3f2362af273_0_46"/>
          <p:cNvSpPr txBox="1"/>
          <p:nvPr>
            <p:ph idx="1" type="body"/>
          </p:nvPr>
        </p:nvSpPr>
        <p:spPr>
          <a:xfrm>
            <a:off x="1371739" y="1098497"/>
            <a:ext cx="30168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362af273_0_41"/>
          <p:cNvSpPr txBox="1"/>
          <p:nvPr>
            <p:ph type="title"/>
          </p:nvPr>
        </p:nvSpPr>
        <p:spPr>
          <a:xfrm>
            <a:off x="95300" y="62405"/>
            <a:ext cx="18504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 Analysis</a:t>
            </a:r>
            <a:endParaRPr/>
          </a:p>
        </p:txBody>
      </p:sp>
      <p:sp>
        <p:nvSpPr>
          <p:cNvPr id="255" name="Google Shape;255;g3f2362af273_0_41"/>
          <p:cNvSpPr txBox="1"/>
          <p:nvPr>
            <p:ph idx="1" type="body"/>
          </p:nvPr>
        </p:nvSpPr>
        <p:spPr>
          <a:xfrm>
            <a:off x="1371739" y="1098497"/>
            <a:ext cx="30168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2362af273_0_51"/>
          <p:cNvSpPr txBox="1"/>
          <p:nvPr>
            <p:ph type="title"/>
          </p:nvPr>
        </p:nvSpPr>
        <p:spPr>
          <a:xfrm>
            <a:off x="95300" y="62400"/>
            <a:ext cx="3399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Future Scope</a:t>
            </a:r>
            <a:endParaRPr/>
          </a:p>
        </p:txBody>
      </p:sp>
      <p:sp>
        <p:nvSpPr>
          <p:cNvPr id="261" name="Google Shape;261;g3f2362af273_0_51"/>
          <p:cNvSpPr txBox="1"/>
          <p:nvPr>
            <p:ph idx="1" type="body"/>
          </p:nvPr>
        </p:nvSpPr>
        <p:spPr>
          <a:xfrm>
            <a:off x="1371739" y="1098497"/>
            <a:ext cx="30168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  <p:grpSp>
        <p:nvGrpSpPr>
          <p:cNvPr id="267" name="Google Shape;267;p9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68" name="Google Shape;268;p9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" name="Google Shape;270;p9"/>
          <p:cNvSpPr txBox="1"/>
          <p:nvPr/>
        </p:nvSpPr>
        <p:spPr>
          <a:xfrm>
            <a:off x="261839" y="607554"/>
            <a:ext cx="52641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[1] Qorich, M., &amp; El Ouazzani, R. (2023). Text sentiment classification of Amazon reviews using word embeddings and convolutional neural networks. The Journal of Supercomputing, 79(10), 11029-11054.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1" name="Google Shape;271;p9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72" name="Google Shape;272;p9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9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9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78" name="Google Shape;278;p9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2025-11-19T14:26:28Z</dcterms:created>
  <dc:creator>Author 1, Author 2, Author 3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